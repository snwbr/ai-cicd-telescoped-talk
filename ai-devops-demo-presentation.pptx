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/>
    <p:restoredTop sz="94682"/>
  </p:normalViewPr>
  <p:slideViewPr>
    <p:cSldViewPr snapToGrid="0">
      <p:cViewPr varScale="1">
        <p:scale>
          <a:sx n="123" d="100"/>
          <a:sy n="123" d="100"/>
        </p:scale>
        <p:origin x="22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R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299342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R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760862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45228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049586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237816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1321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694522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988803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173759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5037360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5116062"/>
      </p:ext>
    </p:extLst>
  </p:cSld>
  <p:clrMapOvr>
    <a:masterClrMapping/>
  </p:clrMapOvr>
  <p:transition spd="slow">
    <p:cover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006483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11/9/25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4188304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</p:sldLayoutIdLst>
  <p:transition spd="slow">
    <p:cover/>
  </p:transition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EF58-B27A-FDA6-FF1A-B9BBA4EDBF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R" dirty="0"/>
              <a:t>When A</a:t>
            </a:r>
            <a:r>
              <a:rPr lang="en-US" dirty="0"/>
              <a:t>u</a:t>
            </a:r>
            <a:r>
              <a:rPr lang="en-CR" dirty="0"/>
              <a:t>tomation is not enough: Smarter CI/CD Pipelines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950A2E-7CCC-0327-7B12-9BE0C9C86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72274" y="1408174"/>
            <a:ext cx="5357600" cy="1160213"/>
          </a:xfrm>
        </p:spPr>
        <p:txBody>
          <a:bodyPr/>
          <a:lstStyle/>
          <a:p>
            <a:r>
              <a:rPr lang="en-CR" dirty="0"/>
              <a:t>David Perez</a:t>
            </a:r>
          </a:p>
          <a:p>
            <a:r>
              <a:rPr lang="en-CR" dirty="0"/>
              <a:t>Setiembre, 2025</a:t>
            </a:r>
          </a:p>
        </p:txBody>
      </p:sp>
    </p:spTree>
    <p:extLst>
      <p:ext uri="{BB962C8B-B14F-4D97-AF65-F5344CB8AC3E}">
        <p14:creationId xmlns:p14="http://schemas.microsoft.com/office/powerpoint/2010/main" val="1375379493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574C-72A9-5543-445F-BC79CCDCF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R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E68AA-F510-A0C0-6578-212411A9D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R" sz="2400" dirty="0"/>
              <a:t>Estado del CI/CD actual</a:t>
            </a:r>
          </a:p>
          <a:p>
            <a:r>
              <a:rPr lang="en-CR" sz="2400" dirty="0"/>
              <a:t>¿Por qué AI en DevOps?</a:t>
            </a:r>
          </a:p>
          <a:p>
            <a:r>
              <a:rPr lang="en-CR" sz="2400" dirty="0"/>
              <a:t>SDLC + AI = Mejor software</a:t>
            </a:r>
          </a:p>
          <a:p>
            <a:r>
              <a:rPr lang="en-CR" sz="2400" dirty="0"/>
              <a:t>Demo: Mejoras en el CI/CD habilitadas por AI</a:t>
            </a:r>
          </a:p>
          <a:p>
            <a:r>
              <a:rPr lang="en-CR" sz="2400" dirty="0"/>
              <a:t>Conclusiones y próximos pasos</a:t>
            </a:r>
          </a:p>
        </p:txBody>
      </p:sp>
    </p:spTree>
    <p:extLst>
      <p:ext uri="{BB962C8B-B14F-4D97-AF65-F5344CB8AC3E}">
        <p14:creationId xmlns:p14="http://schemas.microsoft.com/office/powerpoint/2010/main" val="57668109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674-E8FF-7E84-E0B2-AEBEAB5D2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R" dirty="0"/>
              <a:t>Estado del CI/CD actual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1B39C-3E91-72B6-3413-4FCDA5FC4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8070" y="1431235"/>
            <a:ext cx="8622069" cy="5128591"/>
          </a:xfrm>
        </p:spPr>
        <p:txBody>
          <a:bodyPr>
            <a:normAutofit/>
          </a:bodyPr>
          <a:lstStyle/>
          <a:p>
            <a:pPr algn="just"/>
            <a:r>
              <a:rPr lang="en-US" sz="2400" dirty="0"/>
              <a:t>CI/CD hoy </a:t>
            </a:r>
            <a:r>
              <a:rPr lang="en-US" sz="2400" dirty="0" err="1"/>
              <a:t>en</a:t>
            </a:r>
            <a:r>
              <a:rPr lang="en-US" sz="2400" dirty="0"/>
              <a:t> día es </a:t>
            </a:r>
            <a:r>
              <a:rPr lang="en-US" sz="2400" b="1" dirty="0" err="1"/>
              <a:t>rápido</a:t>
            </a:r>
            <a:r>
              <a:rPr lang="en-US" sz="2400" b="1" dirty="0"/>
              <a:t> y </a:t>
            </a:r>
            <a:r>
              <a:rPr lang="en-US" sz="2400" b="1" dirty="0" err="1"/>
              <a:t>automatizado</a:t>
            </a:r>
            <a:r>
              <a:rPr lang="en-US" sz="2400" dirty="0"/>
              <a:t>, </a:t>
            </a:r>
            <a:r>
              <a:rPr lang="en-US" sz="2400" dirty="0" err="1"/>
              <a:t>pero</a:t>
            </a:r>
            <a:r>
              <a:rPr lang="en-US" sz="2400" dirty="0"/>
              <a:t> </a:t>
            </a:r>
            <a:r>
              <a:rPr lang="en-US" sz="2400" dirty="0" err="1"/>
              <a:t>aún</a:t>
            </a:r>
            <a:r>
              <a:rPr lang="en-US" sz="2400" dirty="0"/>
              <a:t> con </a:t>
            </a:r>
            <a:r>
              <a:rPr lang="en-US" sz="2400" dirty="0" err="1"/>
              <a:t>limitaciones</a:t>
            </a:r>
            <a:r>
              <a:rPr lang="en-US" sz="2400" dirty="0"/>
              <a:t>:</a:t>
            </a:r>
          </a:p>
          <a:p>
            <a:pPr lvl="1" algn="just"/>
            <a:r>
              <a:rPr lang="en-US" sz="2000" b="1" dirty="0"/>
              <a:t>Pipelines </a:t>
            </a:r>
            <a:r>
              <a:rPr lang="en-US" sz="2000" b="1" dirty="0" err="1"/>
              <a:t>rígidos</a:t>
            </a:r>
            <a:r>
              <a:rPr lang="en-US" sz="2000" dirty="0"/>
              <a:t> → </a:t>
            </a:r>
            <a:r>
              <a:rPr lang="en-US" sz="2000" dirty="0" err="1"/>
              <a:t>ejecutan</a:t>
            </a:r>
            <a:r>
              <a:rPr lang="en-US" sz="2000" dirty="0"/>
              <a:t>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los</a:t>
            </a:r>
            <a:r>
              <a:rPr lang="en-US" sz="2000" dirty="0"/>
              <a:t> pasos sin </a:t>
            </a:r>
            <a:r>
              <a:rPr lang="en-US" sz="2000" dirty="0" err="1"/>
              <a:t>discriminar</a:t>
            </a:r>
            <a:r>
              <a:rPr lang="en-US" sz="2000" dirty="0"/>
              <a:t>.</a:t>
            </a:r>
          </a:p>
          <a:p>
            <a:pPr lvl="1" algn="just"/>
            <a:r>
              <a:rPr lang="en-US" sz="2000" b="1" dirty="0"/>
              <a:t>Tiempo y </a:t>
            </a:r>
            <a:r>
              <a:rPr lang="en-US" sz="2000" b="1" dirty="0" err="1"/>
              <a:t>costo</a:t>
            </a:r>
            <a:r>
              <a:rPr lang="en-US" sz="2000" dirty="0"/>
              <a:t> → tests y </a:t>
            </a:r>
            <a:r>
              <a:rPr lang="en-US" sz="2000" dirty="0" err="1"/>
              <a:t>despliegues</a:t>
            </a:r>
            <a:r>
              <a:rPr lang="en-US" sz="2000" dirty="0"/>
              <a:t> largos </a:t>
            </a:r>
            <a:r>
              <a:rPr lang="en-US" sz="2000" dirty="0" err="1"/>
              <a:t>ralentizan</a:t>
            </a:r>
            <a:r>
              <a:rPr lang="en-US" sz="2000" dirty="0"/>
              <a:t> la </a:t>
            </a:r>
            <a:r>
              <a:rPr lang="en-US" sz="2000" dirty="0" err="1"/>
              <a:t>entrega</a:t>
            </a:r>
            <a:r>
              <a:rPr lang="en-US" sz="2000" dirty="0"/>
              <a:t>.</a:t>
            </a:r>
          </a:p>
          <a:p>
            <a:pPr lvl="1" algn="just"/>
            <a:r>
              <a:rPr lang="en-US" sz="2000" b="1" dirty="0" err="1"/>
              <a:t>Ruido</a:t>
            </a:r>
            <a:r>
              <a:rPr lang="en-US" sz="2000" b="1" dirty="0"/>
              <a:t> </a:t>
            </a:r>
            <a:r>
              <a:rPr lang="en-US" sz="2000" b="1" dirty="0" err="1"/>
              <a:t>en</a:t>
            </a:r>
            <a:r>
              <a:rPr lang="en-US" sz="2000" b="1" dirty="0"/>
              <a:t> </a:t>
            </a:r>
            <a:r>
              <a:rPr lang="en-US" sz="2000" b="1" dirty="0" err="1"/>
              <a:t>fallos</a:t>
            </a:r>
            <a:r>
              <a:rPr lang="en-US" sz="2000" dirty="0"/>
              <a:t> → </a:t>
            </a:r>
            <a:r>
              <a:rPr lang="en-US" sz="2000" dirty="0" err="1"/>
              <a:t>difícil</a:t>
            </a:r>
            <a:r>
              <a:rPr lang="en-US" sz="2000" dirty="0"/>
              <a:t> </a:t>
            </a:r>
            <a:r>
              <a:rPr lang="en-US" sz="2000" dirty="0" err="1"/>
              <a:t>detectar</a:t>
            </a:r>
            <a:r>
              <a:rPr lang="en-US" sz="2000" dirty="0"/>
              <a:t> la </a:t>
            </a:r>
            <a:r>
              <a:rPr lang="en-US" sz="2000" dirty="0" err="1"/>
              <a:t>raíz</a:t>
            </a:r>
            <a:r>
              <a:rPr lang="en-US" sz="2000" dirty="0"/>
              <a:t> del </a:t>
            </a:r>
            <a:r>
              <a:rPr lang="en-US" sz="2000" dirty="0" err="1"/>
              <a:t>problema</a:t>
            </a:r>
            <a:r>
              <a:rPr lang="en-US" sz="2000" dirty="0"/>
              <a:t> entre </a:t>
            </a:r>
            <a:r>
              <a:rPr lang="en-US" sz="2000" dirty="0" err="1"/>
              <a:t>cientos</a:t>
            </a:r>
            <a:r>
              <a:rPr lang="en-US" sz="2000" dirty="0"/>
              <a:t> de logs.</a:t>
            </a:r>
          </a:p>
          <a:p>
            <a:pPr lvl="1" algn="just"/>
            <a:r>
              <a:rPr lang="en-US" sz="2000" b="1" dirty="0"/>
              <a:t>Falta de </a:t>
            </a:r>
            <a:r>
              <a:rPr lang="en-US" sz="2000" b="1" dirty="0" err="1"/>
              <a:t>inteligencia</a:t>
            </a:r>
            <a:r>
              <a:rPr lang="en-US" sz="2000" dirty="0"/>
              <a:t> → </a:t>
            </a:r>
            <a:r>
              <a:rPr lang="en-US" sz="2000" dirty="0" err="1"/>
              <a:t>automatización</a:t>
            </a:r>
            <a:r>
              <a:rPr lang="en-US" sz="2000" dirty="0"/>
              <a:t> ≠ </a:t>
            </a:r>
            <a:r>
              <a:rPr lang="en-US" sz="2000" dirty="0" err="1"/>
              <a:t>optimización</a:t>
            </a:r>
            <a:r>
              <a:rPr lang="en-US" sz="2000" dirty="0"/>
              <a:t>.</a:t>
            </a:r>
          </a:p>
          <a:p>
            <a:pPr algn="just"/>
            <a:r>
              <a:rPr lang="en-US" sz="2400" b="1" dirty="0" err="1"/>
              <a:t>Problema</a:t>
            </a:r>
            <a:r>
              <a:rPr lang="en-US" sz="2400" b="1" dirty="0"/>
              <a:t> central</a:t>
            </a:r>
            <a:r>
              <a:rPr lang="en-US" sz="2400" dirty="0"/>
              <a:t>: pipelines </a:t>
            </a:r>
            <a:r>
              <a:rPr lang="en-US" sz="2400" dirty="0" err="1"/>
              <a:t>automáticos</a:t>
            </a:r>
            <a:r>
              <a:rPr lang="en-US" sz="2400" dirty="0"/>
              <a:t> </a:t>
            </a:r>
            <a:r>
              <a:rPr lang="en-US" sz="2400" dirty="0" err="1"/>
              <a:t>pero</a:t>
            </a:r>
            <a:r>
              <a:rPr lang="en-US" sz="2400" dirty="0"/>
              <a:t> no “</a:t>
            </a:r>
            <a:r>
              <a:rPr lang="en-US" sz="2400" dirty="0" err="1"/>
              <a:t>inteligentes</a:t>
            </a:r>
            <a:r>
              <a:rPr lang="en-US" sz="2400" dirty="0"/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2045280424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3169C-3E48-D16B-BC2F-48F759A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7058D-80F8-4058-C460-8D3DB853C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R" dirty="0"/>
              <a:t>¿Por qué AI en DevOps?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12D17-4E5D-E5DA-B013-6E488D87A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US" sz="2400" dirty="0"/>
              <a:t>AI </a:t>
            </a:r>
            <a:r>
              <a:rPr lang="en-US" sz="2400" dirty="0" err="1"/>
              <a:t>puede</a:t>
            </a:r>
            <a:r>
              <a:rPr lang="en-US" sz="2400" dirty="0"/>
              <a:t> </a:t>
            </a:r>
            <a:r>
              <a:rPr lang="en-US" sz="2400" dirty="0" err="1"/>
              <a:t>aportar</a:t>
            </a:r>
            <a:r>
              <a:rPr lang="en-US" sz="2400" dirty="0"/>
              <a:t> </a:t>
            </a:r>
            <a:r>
              <a:rPr lang="en-US" sz="2400" b="1" dirty="0" err="1"/>
              <a:t>razonamiento</a:t>
            </a:r>
            <a:r>
              <a:rPr lang="en-US" sz="2400" b="1" dirty="0"/>
              <a:t> y </a:t>
            </a:r>
            <a:r>
              <a:rPr lang="en-US" sz="2400" b="1" dirty="0" err="1"/>
              <a:t>predicción</a:t>
            </a:r>
            <a:r>
              <a:rPr lang="en-US" sz="2400" dirty="0"/>
              <a:t>:</a:t>
            </a:r>
          </a:p>
          <a:p>
            <a:pPr lvl="1" algn="just"/>
            <a:r>
              <a:rPr lang="en-US" sz="2000" dirty="0" err="1"/>
              <a:t>Selección</a:t>
            </a:r>
            <a:r>
              <a:rPr lang="en-US" sz="2000" dirty="0"/>
              <a:t> </a:t>
            </a:r>
            <a:r>
              <a:rPr lang="en-US" sz="2000" dirty="0" err="1"/>
              <a:t>inteligente</a:t>
            </a:r>
            <a:r>
              <a:rPr lang="en-US" sz="2000" dirty="0"/>
              <a:t> de tests y </a:t>
            </a:r>
            <a:r>
              <a:rPr lang="en-US" sz="2000" dirty="0" err="1"/>
              <a:t>despliegues</a:t>
            </a:r>
            <a:r>
              <a:rPr lang="en-US" sz="2000" dirty="0"/>
              <a:t> → </a:t>
            </a:r>
            <a:r>
              <a:rPr lang="en-US" sz="2000" dirty="0" err="1"/>
              <a:t>correr</a:t>
            </a:r>
            <a:r>
              <a:rPr lang="en-US" sz="2000" dirty="0"/>
              <a:t> </a:t>
            </a:r>
            <a:r>
              <a:rPr lang="en-US" sz="2000" b="1" dirty="0"/>
              <a:t>solo lo </a:t>
            </a:r>
            <a:r>
              <a:rPr lang="en-US" sz="2000" b="1" dirty="0" err="1"/>
              <a:t>relevante</a:t>
            </a:r>
            <a:r>
              <a:rPr lang="en-US" sz="2000" dirty="0"/>
              <a:t> a </a:t>
            </a:r>
            <a:r>
              <a:rPr lang="en-US" sz="2000" dirty="0" err="1"/>
              <a:t>los</a:t>
            </a:r>
            <a:r>
              <a:rPr lang="en-US" sz="2000" dirty="0"/>
              <a:t> </a:t>
            </a:r>
            <a:r>
              <a:rPr lang="en-US" sz="2000" dirty="0" err="1"/>
              <a:t>cambios</a:t>
            </a:r>
            <a:r>
              <a:rPr lang="en-US" sz="2000" dirty="0"/>
              <a:t>.</a:t>
            </a:r>
          </a:p>
          <a:p>
            <a:pPr lvl="1" algn="just"/>
            <a:r>
              <a:rPr lang="en-US" sz="2000" dirty="0" err="1"/>
              <a:t>Diagnóstico</a:t>
            </a:r>
            <a:r>
              <a:rPr lang="en-US" sz="2000" dirty="0"/>
              <a:t> </a:t>
            </a:r>
            <a:r>
              <a:rPr lang="en-US" sz="2000" dirty="0" err="1"/>
              <a:t>automático</a:t>
            </a:r>
            <a:r>
              <a:rPr lang="en-US" sz="2000" dirty="0"/>
              <a:t> de </a:t>
            </a:r>
            <a:r>
              <a:rPr lang="en-US" sz="2000" dirty="0" err="1"/>
              <a:t>fallos</a:t>
            </a:r>
            <a:r>
              <a:rPr lang="en-US" sz="2000" dirty="0"/>
              <a:t> → </a:t>
            </a:r>
            <a:r>
              <a:rPr lang="en-US" sz="2000" dirty="0" err="1"/>
              <a:t>explicar</a:t>
            </a:r>
            <a:r>
              <a:rPr lang="en-US" sz="2000" dirty="0"/>
              <a:t> logs </a:t>
            </a:r>
            <a:r>
              <a:rPr lang="en-US" sz="2000" dirty="0" err="1"/>
              <a:t>complejos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lenguaje</a:t>
            </a:r>
            <a:r>
              <a:rPr lang="en-US" sz="2000" dirty="0"/>
              <a:t> natural.</a:t>
            </a:r>
          </a:p>
          <a:p>
            <a:pPr lvl="1" algn="just"/>
            <a:r>
              <a:rPr lang="en-US" sz="2000" dirty="0" err="1"/>
              <a:t>Priorización</a:t>
            </a:r>
            <a:r>
              <a:rPr lang="en-US" sz="2000" dirty="0"/>
              <a:t> de issues → </a:t>
            </a:r>
            <a:r>
              <a:rPr lang="en-US" sz="2000" dirty="0" err="1"/>
              <a:t>enfocar</a:t>
            </a:r>
            <a:r>
              <a:rPr lang="en-US" sz="2000" dirty="0"/>
              <a:t> </a:t>
            </a:r>
            <a:r>
              <a:rPr lang="en-US" sz="2000" dirty="0" err="1"/>
              <a:t>esfuerzos</a:t>
            </a:r>
            <a:r>
              <a:rPr lang="en-US" sz="2000" dirty="0"/>
              <a:t> </a:t>
            </a:r>
            <a:r>
              <a:rPr lang="en-US" sz="2000" dirty="0" err="1"/>
              <a:t>donde</a:t>
            </a:r>
            <a:r>
              <a:rPr lang="en-US" sz="2000" dirty="0"/>
              <a:t> </a:t>
            </a:r>
            <a:r>
              <a:rPr lang="en-US" sz="2000" dirty="0" err="1"/>
              <a:t>el</a:t>
            </a:r>
            <a:r>
              <a:rPr lang="en-US" sz="2000" dirty="0"/>
              <a:t> </a:t>
            </a:r>
            <a:r>
              <a:rPr lang="en-US" sz="2000" dirty="0" err="1"/>
              <a:t>riesgo</a:t>
            </a:r>
            <a:r>
              <a:rPr lang="en-US" sz="2000" dirty="0"/>
              <a:t> es mayor.</a:t>
            </a:r>
          </a:p>
          <a:p>
            <a:pPr algn="just"/>
            <a:r>
              <a:rPr lang="en-US" sz="2400" b="1" dirty="0" err="1"/>
              <a:t>Beneficio</a:t>
            </a:r>
            <a:r>
              <a:rPr lang="en-US" sz="2400" dirty="0"/>
              <a:t>: </a:t>
            </a:r>
            <a:r>
              <a:rPr lang="en-US" sz="2400" dirty="0" err="1"/>
              <a:t>reducir</a:t>
            </a:r>
            <a:r>
              <a:rPr lang="en-US" sz="2400" dirty="0"/>
              <a:t> </a:t>
            </a:r>
            <a:r>
              <a:rPr lang="en-US" sz="2400" dirty="0" err="1"/>
              <a:t>tiempos</a:t>
            </a:r>
            <a:r>
              <a:rPr lang="en-US" sz="2400" dirty="0"/>
              <a:t> de build, </a:t>
            </a:r>
            <a:r>
              <a:rPr lang="en-US" sz="2400" dirty="0" err="1"/>
              <a:t>ahorrar</a:t>
            </a:r>
            <a:r>
              <a:rPr lang="en-US" sz="2400" dirty="0"/>
              <a:t> </a:t>
            </a:r>
            <a:r>
              <a:rPr lang="en-US" sz="2400" dirty="0" err="1"/>
              <a:t>costos</a:t>
            </a:r>
            <a:r>
              <a:rPr lang="en-US" sz="2400" dirty="0"/>
              <a:t> de </a:t>
            </a:r>
            <a:r>
              <a:rPr lang="en-US" sz="2400" dirty="0" err="1"/>
              <a:t>infraestructura</a:t>
            </a:r>
            <a:r>
              <a:rPr lang="en-US" sz="2400" dirty="0"/>
              <a:t> y </a:t>
            </a:r>
            <a:r>
              <a:rPr lang="en-US" sz="2400" dirty="0" err="1"/>
              <a:t>acelerar</a:t>
            </a:r>
            <a:r>
              <a:rPr lang="en-US" sz="2400" dirty="0"/>
              <a:t> feedback a </a:t>
            </a:r>
            <a:r>
              <a:rPr lang="en-US" sz="2400" dirty="0" err="1"/>
              <a:t>los</a:t>
            </a:r>
            <a:r>
              <a:rPr lang="en-US" sz="2400" dirty="0"/>
              <a:t> </a:t>
            </a:r>
            <a:r>
              <a:rPr lang="en-US" sz="2400" dirty="0" err="1"/>
              <a:t>devs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2597695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B787E-69F6-D9CA-8206-93C129472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E1A5C-4ABD-440E-41CE-E075E8EB2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R" dirty="0"/>
              <a:t>SDLC + AI = Mejor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99A3A-3A98-0BA4-99EA-7A50092EA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En coding</a:t>
            </a:r>
            <a:r>
              <a:rPr lang="en-US" dirty="0"/>
              <a:t> → AI </a:t>
            </a:r>
            <a:r>
              <a:rPr lang="en-US" dirty="0" err="1"/>
              <a:t>ayuda</a:t>
            </a:r>
            <a:r>
              <a:rPr lang="en-US" dirty="0"/>
              <a:t> con code completion, linting </a:t>
            </a:r>
            <a:r>
              <a:rPr lang="en-US" dirty="0" err="1"/>
              <a:t>inteligente</a:t>
            </a:r>
            <a:r>
              <a:rPr lang="en-US" dirty="0"/>
              <a:t>, </a:t>
            </a:r>
            <a:r>
              <a:rPr lang="en-US" dirty="0" err="1"/>
              <a:t>detectar</a:t>
            </a:r>
            <a:r>
              <a:rPr lang="en-US" dirty="0"/>
              <a:t> </a:t>
            </a:r>
            <a:r>
              <a:rPr lang="en-US" dirty="0" err="1"/>
              <a:t>vulnerabilidades</a:t>
            </a:r>
            <a:r>
              <a:rPr lang="en-US" dirty="0"/>
              <a:t>.</a:t>
            </a:r>
          </a:p>
          <a:p>
            <a:r>
              <a:rPr lang="en-US" b="1" dirty="0"/>
              <a:t>En testing</a:t>
            </a:r>
            <a:r>
              <a:rPr lang="en-US" dirty="0"/>
              <a:t> → </a:t>
            </a:r>
            <a:r>
              <a:rPr lang="en-US" dirty="0" err="1"/>
              <a:t>selección</a:t>
            </a:r>
            <a:r>
              <a:rPr lang="en-US" dirty="0"/>
              <a:t> y </a:t>
            </a:r>
            <a:r>
              <a:rPr lang="en-US" dirty="0" err="1"/>
              <a:t>generación</a:t>
            </a:r>
            <a:r>
              <a:rPr lang="en-US" dirty="0"/>
              <a:t> de tests con ML.</a:t>
            </a:r>
          </a:p>
          <a:p>
            <a:r>
              <a:rPr lang="en-US" b="1" dirty="0"/>
              <a:t>En deployment</a:t>
            </a:r>
            <a:r>
              <a:rPr lang="en-US" dirty="0"/>
              <a:t> → </a:t>
            </a:r>
            <a:r>
              <a:rPr lang="en-US" dirty="0" err="1"/>
              <a:t>detectar</a:t>
            </a:r>
            <a:r>
              <a:rPr lang="en-US" dirty="0"/>
              <a:t> </a:t>
            </a:r>
            <a:r>
              <a:rPr lang="en-US" dirty="0" err="1"/>
              <a:t>patrones</a:t>
            </a:r>
            <a:r>
              <a:rPr lang="en-US" dirty="0"/>
              <a:t> </a:t>
            </a:r>
            <a:r>
              <a:rPr lang="en-US" dirty="0" err="1"/>
              <a:t>anómalos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métricas</a:t>
            </a:r>
            <a:r>
              <a:rPr lang="en-US" dirty="0"/>
              <a:t> y </a:t>
            </a:r>
            <a:r>
              <a:rPr lang="en-US" dirty="0" err="1"/>
              <a:t>prevenir</a:t>
            </a:r>
            <a:r>
              <a:rPr lang="en-US" dirty="0"/>
              <a:t> </a:t>
            </a:r>
            <a:r>
              <a:rPr lang="en-US" dirty="0" err="1"/>
              <a:t>incidentes</a:t>
            </a:r>
            <a:r>
              <a:rPr lang="en-US" dirty="0"/>
              <a:t>.</a:t>
            </a:r>
          </a:p>
          <a:p>
            <a:r>
              <a:rPr lang="en-US" b="1" dirty="0"/>
              <a:t>En operations</a:t>
            </a:r>
            <a:r>
              <a:rPr lang="en-US" dirty="0"/>
              <a:t> → </a:t>
            </a:r>
            <a:r>
              <a:rPr lang="en-US" dirty="0" err="1"/>
              <a:t>análisis</a:t>
            </a:r>
            <a:r>
              <a:rPr lang="en-US" dirty="0"/>
              <a:t> de logs, </a:t>
            </a:r>
            <a:r>
              <a:rPr lang="en-US" dirty="0" err="1"/>
              <a:t>predicción</a:t>
            </a:r>
            <a:r>
              <a:rPr lang="en-US" dirty="0"/>
              <a:t> de </a:t>
            </a:r>
            <a:r>
              <a:rPr lang="en-US" dirty="0" err="1"/>
              <a:t>incidentes</a:t>
            </a:r>
            <a:r>
              <a:rPr lang="en-US" dirty="0"/>
              <a:t>, auto-</a:t>
            </a:r>
            <a:r>
              <a:rPr lang="en-US" dirty="0" err="1"/>
              <a:t>remediación</a:t>
            </a:r>
            <a:r>
              <a:rPr lang="en-US" dirty="0"/>
              <a:t>.</a:t>
            </a:r>
          </a:p>
          <a:p>
            <a:r>
              <a:rPr lang="en-US" dirty="0"/>
              <a:t>El </a:t>
            </a:r>
            <a:r>
              <a:rPr lang="en-US" dirty="0" err="1"/>
              <a:t>ciclo</a:t>
            </a:r>
            <a:r>
              <a:rPr lang="en-US" dirty="0"/>
              <a:t> SDLC se </a:t>
            </a:r>
            <a:r>
              <a:rPr lang="en-US" dirty="0" err="1"/>
              <a:t>convierte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b="1" dirty="0"/>
              <a:t>loop </a:t>
            </a:r>
            <a:r>
              <a:rPr lang="en-US" b="1" dirty="0" err="1"/>
              <a:t>inteligente</a:t>
            </a:r>
            <a:r>
              <a:rPr lang="en-US" dirty="0"/>
              <a:t>, no solo un loop </a:t>
            </a:r>
            <a:r>
              <a:rPr lang="en-US" dirty="0" err="1"/>
              <a:t>automático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8572461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613C-1C65-C8E8-45FE-B60264B87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87DAB-6217-1763-FEFE-415E29B82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R" dirty="0"/>
              <a:t>Demo: Mejoras en el CI/CD habilitadas por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1F333-2394-1EFC-678A-B3003EAD3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¿</a:t>
            </a:r>
            <a:r>
              <a:rPr lang="en-US" sz="2400" dirty="0" err="1"/>
              <a:t>Qué</a:t>
            </a:r>
            <a:r>
              <a:rPr lang="en-US" sz="2400" dirty="0"/>
              <a:t> </a:t>
            </a:r>
            <a:r>
              <a:rPr lang="en-US" sz="2400" dirty="0" err="1"/>
              <a:t>mostramos</a:t>
            </a:r>
            <a:r>
              <a:rPr lang="en-US" sz="2400" dirty="0"/>
              <a:t>?</a:t>
            </a:r>
          </a:p>
          <a:p>
            <a:pPr lvl="1"/>
            <a:r>
              <a:rPr lang="en-US" sz="2000" dirty="0" err="1"/>
              <a:t>Cambias</a:t>
            </a:r>
            <a:r>
              <a:rPr lang="en-US" sz="2000" dirty="0"/>
              <a:t> un </a:t>
            </a:r>
            <a:r>
              <a:rPr lang="en-US" sz="2000" dirty="0" err="1"/>
              <a:t>archivo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app/.</a:t>
            </a:r>
          </a:p>
          <a:p>
            <a:pPr lvl="1"/>
            <a:r>
              <a:rPr lang="en-US" sz="2000" dirty="0"/>
              <a:t>El </a:t>
            </a:r>
            <a:r>
              <a:rPr lang="en-US" sz="2000" dirty="0" err="1"/>
              <a:t>modelo</a:t>
            </a:r>
            <a:r>
              <a:rPr lang="en-US" sz="2000" dirty="0"/>
              <a:t> ML </a:t>
            </a:r>
            <a:r>
              <a:rPr lang="en-US" sz="2000" dirty="0" err="1"/>
              <a:t>predice</a:t>
            </a:r>
            <a:r>
              <a:rPr lang="en-US" sz="2000" dirty="0"/>
              <a:t> </a:t>
            </a:r>
            <a:r>
              <a:rPr lang="en-US" sz="2000" dirty="0" err="1"/>
              <a:t>qué</a:t>
            </a:r>
            <a:r>
              <a:rPr lang="en-US" sz="2000" dirty="0"/>
              <a:t> tests son </a:t>
            </a:r>
            <a:r>
              <a:rPr lang="en-US" sz="2000" dirty="0" err="1"/>
              <a:t>relevantes</a:t>
            </a:r>
            <a:r>
              <a:rPr lang="en-US" sz="2000" dirty="0"/>
              <a:t>.</a:t>
            </a:r>
          </a:p>
          <a:p>
            <a:pPr lvl="1"/>
            <a:r>
              <a:rPr lang="en-US" sz="2000" dirty="0"/>
              <a:t>Solo se </a:t>
            </a:r>
            <a:r>
              <a:rPr lang="en-US" sz="2000" dirty="0" err="1"/>
              <a:t>ejecutan</a:t>
            </a:r>
            <a:r>
              <a:rPr lang="en-US" sz="2000" dirty="0"/>
              <a:t> </a:t>
            </a:r>
            <a:r>
              <a:rPr lang="en-US" sz="2000" dirty="0" err="1"/>
              <a:t>esos</a:t>
            </a:r>
            <a:r>
              <a:rPr lang="en-US" sz="2000" dirty="0"/>
              <a:t> tests → pipeline </a:t>
            </a:r>
            <a:r>
              <a:rPr lang="en-US" sz="2000" dirty="0" err="1"/>
              <a:t>más</a:t>
            </a:r>
            <a:r>
              <a:rPr lang="en-US" sz="2000" dirty="0"/>
              <a:t> </a:t>
            </a:r>
            <a:r>
              <a:rPr lang="en-US" sz="2000" dirty="0" err="1"/>
              <a:t>rápido</a:t>
            </a:r>
            <a:r>
              <a:rPr lang="en-US" sz="2000" dirty="0"/>
              <a:t> y </a:t>
            </a:r>
            <a:r>
              <a:rPr lang="en-US" sz="2000" dirty="0" err="1"/>
              <a:t>eficiente</a:t>
            </a:r>
            <a:r>
              <a:rPr lang="en-US" sz="2000" dirty="0"/>
              <a:t>.</a:t>
            </a:r>
          </a:p>
          <a:p>
            <a:pPr lvl="1"/>
            <a:r>
              <a:rPr lang="en-US" sz="2000" dirty="0"/>
              <a:t>Si hay </a:t>
            </a:r>
            <a:r>
              <a:rPr lang="en-US" sz="2000" dirty="0" err="1"/>
              <a:t>fallos</a:t>
            </a:r>
            <a:r>
              <a:rPr lang="en-US" sz="2000" dirty="0"/>
              <a:t>, un LLM </a:t>
            </a:r>
            <a:r>
              <a:rPr lang="en-US" sz="2000" dirty="0" err="1"/>
              <a:t>analiza</a:t>
            </a:r>
            <a:r>
              <a:rPr lang="en-US" sz="2000" dirty="0"/>
              <a:t> </a:t>
            </a:r>
            <a:r>
              <a:rPr lang="en-US" sz="2000" dirty="0" err="1"/>
              <a:t>el</a:t>
            </a:r>
            <a:r>
              <a:rPr lang="en-US" sz="2000" dirty="0"/>
              <a:t> </a:t>
            </a:r>
            <a:r>
              <a:rPr lang="en-US" sz="2000" dirty="0" err="1"/>
              <a:t>pytest</a:t>
            </a:r>
            <a:r>
              <a:rPr lang="en-US" sz="2000" dirty="0"/>
              <a:t> log y </a:t>
            </a:r>
            <a:r>
              <a:rPr lang="en-US" sz="2000" dirty="0" err="1"/>
              <a:t>entrega</a:t>
            </a:r>
            <a:r>
              <a:rPr lang="en-US" sz="2000" dirty="0"/>
              <a:t> un </a:t>
            </a:r>
            <a:r>
              <a:rPr lang="en-US" sz="2000" dirty="0" err="1"/>
              <a:t>diagnóstico</a:t>
            </a:r>
            <a:r>
              <a:rPr lang="en-US" sz="2000" dirty="0"/>
              <a:t> </a:t>
            </a:r>
            <a:r>
              <a:rPr lang="en-US" sz="2000" dirty="0" err="1"/>
              <a:t>explicativo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el</a:t>
            </a:r>
            <a:r>
              <a:rPr lang="en-US" sz="2000" dirty="0"/>
              <a:t> Summary.</a:t>
            </a:r>
            <a:endParaRPr lang="en-CR" sz="2000" dirty="0"/>
          </a:p>
        </p:txBody>
      </p:sp>
    </p:spTree>
    <p:extLst>
      <p:ext uri="{BB962C8B-B14F-4D97-AF65-F5344CB8AC3E}">
        <p14:creationId xmlns:p14="http://schemas.microsoft.com/office/powerpoint/2010/main" val="482959895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0F3308-12C4-4DD7-ABB4-D0DFAA3C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A24046D-AAB6-4470-AC22-6448D576E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1A0A85-392D-49DA-B9EC-82262B3B9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3AFD74C-283C-45BD-885B-6E6635E4B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3DE725-FEB0-422F-BDBA-A29C95768A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058156-257B-4118-BA50-5869C8AF6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10378001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C90CB-3297-1BAB-2F9A-710EC981B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3805" y="911318"/>
            <a:ext cx="3949949" cy="5035364"/>
          </a:xfrm>
        </p:spPr>
        <p:txBody>
          <a:bodyPr>
            <a:normAutofit fontScale="85000" lnSpcReduction="20000"/>
          </a:bodyPr>
          <a:lstStyle/>
          <a:p>
            <a:pPr marL="0" indent="0" algn="just">
              <a:buNone/>
            </a:pPr>
            <a:r>
              <a:rPr lang="en-US" b="1" dirty="0"/>
              <a:t>Precision</a:t>
            </a:r>
            <a:r>
              <a:rPr lang="en-US" dirty="0"/>
              <a:t>: </a:t>
            </a:r>
            <a:r>
              <a:rPr lang="en-US" dirty="0" err="1"/>
              <a:t>exactitud</a:t>
            </a:r>
            <a:r>
              <a:rPr lang="en-US" dirty="0"/>
              <a:t> de las </a:t>
            </a:r>
            <a:r>
              <a:rPr lang="en-US" dirty="0" err="1"/>
              <a:t>predicciones</a:t>
            </a:r>
            <a:r>
              <a:rPr lang="en-US" dirty="0"/>
              <a:t> </a:t>
            </a:r>
            <a:r>
              <a:rPr lang="en-US" dirty="0" err="1"/>
              <a:t>positivas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r>
              <a:rPr lang="en-US" b="1" dirty="0"/>
              <a:t>Recall</a:t>
            </a:r>
            <a:r>
              <a:rPr lang="en-US" dirty="0"/>
              <a:t>: </a:t>
            </a:r>
            <a:r>
              <a:rPr lang="en-US" dirty="0" err="1"/>
              <a:t>habilidad</a:t>
            </a:r>
            <a:r>
              <a:rPr lang="en-US" dirty="0"/>
              <a:t> del </a:t>
            </a:r>
            <a:r>
              <a:rPr lang="en-US" dirty="0" err="1"/>
              <a:t>modelo</a:t>
            </a:r>
            <a:r>
              <a:rPr lang="en-US" dirty="0"/>
              <a:t> para </a:t>
            </a:r>
            <a:r>
              <a:rPr lang="en-US" dirty="0" err="1"/>
              <a:t>encontrar</a:t>
            </a:r>
            <a:r>
              <a:rPr lang="en-US" dirty="0"/>
              <a:t>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positivos</a:t>
            </a:r>
            <a:r>
              <a:rPr lang="en-US" dirty="0"/>
              <a:t>.</a:t>
            </a: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CR" altLang="en-CR" b="1" dirty="0">
              <a:latin typeface="Arial" panose="020B0604020202020204" pitchFamily="34" charset="0"/>
            </a:endParaRP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CR" altLang="en-CR" b="1" dirty="0">
                <a:latin typeface="Arial" panose="020B0604020202020204" pitchFamily="34" charset="0"/>
              </a:rPr>
              <a:t>F1-score</a:t>
            </a:r>
            <a:r>
              <a:rPr lang="en-CR" altLang="en-CR" dirty="0">
                <a:latin typeface="Arial" panose="020B0604020202020204" pitchFamily="34" charset="0"/>
              </a:rPr>
              <a:t>: balance entre precision y recall.</a:t>
            </a: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CR" altLang="en-CR" b="1" dirty="0">
              <a:latin typeface="Arial" panose="020B0604020202020204" pitchFamily="34" charset="0"/>
            </a:endParaRP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CR" altLang="en-CR" b="1" dirty="0">
                <a:latin typeface="Arial" panose="020B0604020202020204" pitchFamily="34" charset="0"/>
              </a:rPr>
              <a:t>Accuracy</a:t>
            </a:r>
            <a:r>
              <a:rPr lang="en-CR" altLang="en-CR" dirty="0">
                <a:latin typeface="Arial" panose="020B0604020202020204" pitchFamily="34" charset="0"/>
              </a:rPr>
              <a:t>: proporción de predicciones correctas en total.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en-US" b="1" dirty="0"/>
              <a:t>Alta precision </a:t>
            </a:r>
            <a:r>
              <a:rPr lang="en-US" dirty="0"/>
              <a:t>-&gt;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i="1" dirty="0" err="1"/>
              <a:t>falsos</a:t>
            </a:r>
            <a:r>
              <a:rPr lang="en-US" i="1" dirty="0"/>
              <a:t> </a:t>
            </a:r>
            <a:r>
              <a:rPr lang="en-US" i="1" dirty="0" err="1"/>
              <a:t>positivos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r>
              <a:rPr lang="en-US" b="1" dirty="0"/>
              <a:t>Alto recall </a:t>
            </a:r>
            <a:r>
              <a:rPr lang="en-US" dirty="0"/>
              <a:t>-&gt;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i="1" dirty="0" err="1"/>
              <a:t>falsos</a:t>
            </a:r>
            <a:r>
              <a:rPr lang="en-US" i="1" dirty="0"/>
              <a:t> </a:t>
            </a:r>
            <a:r>
              <a:rPr lang="en-US" i="1" dirty="0" err="1"/>
              <a:t>negativos</a:t>
            </a:r>
            <a:r>
              <a:rPr lang="en-US" i="1" dirty="0"/>
              <a:t>.</a:t>
            </a:r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82F89D49-6F4A-459A-0976-1D3A421397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755" y="1273996"/>
            <a:ext cx="5689778" cy="4310007"/>
          </a:xfrm>
          <a:prstGeom prst="rect">
            <a:avLst/>
          </a:prstGeom>
          <a:ln>
            <a:gradFill flip="none" rotWithShape="1">
              <a:gsLst>
                <a:gs pos="86000">
                  <a:schemeClr val="accent6">
                    <a:lumMod val="67000"/>
                  </a:schemeClr>
                </a:gs>
                <a:gs pos="20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</a:ln>
          <a:effectLst>
            <a:innerShdw blurRad="127000">
              <a:prstClr val="black">
                <a:alpha val="90000"/>
              </a:prstClr>
            </a:innerShdw>
          </a:effec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23B4D99-FEA8-489A-8436-A2F113BE1B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1C958303-6AFC-28B2-761C-8DC306FD9451}"/>
              </a:ext>
            </a:extLst>
          </p:cNvPr>
          <p:cNvSpPr/>
          <p:nvPr/>
        </p:nvSpPr>
        <p:spPr>
          <a:xfrm>
            <a:off x="8209710" y="152815"/>
            <a:ext cx="2909823" cy="1021994"/>
          </a:xfrm>
          <a:prstGeom prst="wedgeRoundRectCallout">
            <a:avLst>
              <a:gd name="adj1" fmla="val -29911"/>
              <a:gd name="adj2" fmla="val 7343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ysClr val="windowText" lastClr="000000"/>
                </a:solidFill>
              </a:rPr>
              <a:t>de </a:t>
            </a:r>
            <a:r>
              <a:rPr lang="en-US" sz="1700" dirty="0" err="1">
                <a:solidFill>
                  <a:sysClr val="windowText" lastClr="000000"/>
                </a:solidFill>
              </a:rPr>
              <a:t>todos</a:t>
            </a:r>
            <a:r>
              <a:rPr lang="en-US" sz="1700" dirty="0">
                <a:solidFill>
                  <a:sysClr val="windowText" lastClr="000000"/>
                </a:solidFill>
              </a:rPr>
              <a:t> </a:t>
            </a:r>
            <a:r>
              <a:rPr lang="en-US" sz="1700" dirty="0" err="1">
                <a:solidFill>
                  <a:sysClr val="windowText" lastClr="000000"/>
                </a:solidFill>
              </a:rPr>
              <a:t>los</a:t>
            </a:r>
            <a:r>
              <a:rPr lang="en-US" sz="1700" dirty="0">
                <a:solidFill>
                  <a:sysClr val="windowText" lastClr="000000"/>
                </a:solidFill>
              </a:rPr>
              <a:t> tests </a:t>
            </a:r>
            <a:r>
              <a:rPr lang="en-US" sz="1700" dirty="0" err="1">
                <a:solidFill>
                  <a:sysClr val="windowText" lastClr="000000"/>
                </a:solidFill>
              </a:rPr>
              <a:t>que</a:t>
            </a:r>
            <a:r>
              <a:rPr lang="en-US" sz="1700" dirty="0">
                <a:solidFill>
                  <a:sysClr val="windowText" lastClr="000000"/>
                </a:solidFill>
              </a:rPr>
              <a:t> </a:t>
            </a:r>
            <a:r>
              <a:rPr lang="en-US" sz="1700" dirty="0" err="1">
                <a:solidFill>
                  <a:sysClr val="windowText" lastClr="000000"/>
                </a:solidFill>
              </a:rPr>
              <a:t>debían</a:t>
            </a:r>
            <a:r>
              <a:rPr lang="en-US" sz="1700" dirty="0">
                <a:solidFill>
                  <a:sysClr val="windowText" lastClr="000000"/>
                </a:solidFill>
              </a:rPr>
              <a:t> </a:t>
            </a:r>
            <a:r>
              <a:rPr lang="en-US" sz="1700" dirty="0" err="1">
                <a:solidFill>
                  <a:sysClr val="windowText" lastClr="000000"/>
                </a:solidFill>
              </a:rPr>
              <a:t>correrse</a:t>
            </a:r>
            <a:r>
              <a:rPr lang="en-US" sz="1700" dirty="0">
                <a:solidFill>
                  <a:sysClr val="windowText" lastClr="000000"/>
                </a:solidFill>
              </a:rPr>
              <a:t>, ¿</a:t>
            </a:r>
            <a:r>
              <a:rPr lang="en-US" sz="1700" dirty="0" err="1">
                <a:solidFill>
                  <a:sysClr val="windowText" lastClr="000000"/>
                </a:solidFill>
              </a:rPr>
              <a:t>cuántos</a:t>
            </a:r>
            <a:r>
              <a:rPr lang="en-US" sz="1700" dirty="0">
                <a:solidFill>
                  <a:sysClr val="windowText" lastClr="000000"/>
                </a:solidFill>
              </a:rPr>
              <a:t> </a:t>
            </a:r>
            <a:r>
              <a:rPr lang="en-US" sz="1700" dirty="0" err="1">
                <a:solidFill>
                  <a:sysClr val="windowText" lastClr="000000"/>
                </a:solidFill>
              </a:rPr>
              <a:t>logré</a:t>
            </a:r>
            <a:r>
              <a:rPr lang="en-US" sz="1700" dirty="0">
                <a:solidFill>
                  <a:sysClr val="windowText" lastClr="000000"/>
                </a:solidFill>
              </a:rPr>
              <a:t> </a:t>
            </a:r>
            <a:r>
              <a:rPr lang="en-US" sz="1700" dirty="0" err="1">
                <a:solidFill>
                  <a:sysClr val="windowText" lastClr="000000"/>
                </a:solidFill>
              </a:rPr>
              <a:t>seleccionar</a:t>
            </a:r>
            <a:r>
              <a:rPr lang="en-US" sz="1700" dirty="0">
                <a:solidFill>
                  <a:sysClr val="windowText" lastClr="000000"/>
                </a:solidFill>
              </a:rPr>
              <a:t>?</a:t>
            </a:r>
            <a:endParaRPr lang="en-CR" sz="1700" dirty="0">
              <a:solidFill>
                <a:sysClr val="windowText" lastClr="000000"/>
              </a:solidFill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8AB47179-8F74-E23C-44B9-83530442663D}"/>
              </a:ext>
            </a:extLst>
          </p:cNvPr>
          <p:cNvSpPr/>
          <p:nvPr/>
        </p:nvSpPr>
        <p:spPr>
          <a:xfrm>
            <a:off x="4921669" y="166057"/>
            <a:ext cx="2909823" cy="1021994"/>
          </a:xfrm>
          <a:prstGeom prst="wedgeRoundRectCallout">
            <a:avLst>
              <a:gd name="adj1" fmla="val 44111"/>
              <a:gd name="adj2" fmla="val 7542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de </a:t>
            </a:r>
            <a:r>
              <a:rPr lang="en-US" sz="1600" dirty="0" err="1">
                <a:solidFill>
                  <a:sysClr val="windowText" lastClr="000000"/>
                </a:solidFill>
              </a:rPr>
              <a:t>los</a:t>
            </a:r>
            <a:r>
              <a:rPr lang="en-US" sz="1600" dirty="0">
                <a:solidFill>
                  <a:sysClr val="windowText" lastClr="000000"/>
                </a:solidFill>
              </a:rPr>
              <a:t> tests </a:t>
            </a:r>
            <a:r>
              <a:rPr lang="en-US" sz="1600" dirty="0" err="1">
                <a:solidFill>
                  <a:sysClr val="windowText" lastClr="000000"/>
                </a:solidFill>
              </a:rPr>
              <a:t>que</a:t>
            </a:r>
            <a:r>
              <a:rPr lang="en-US" sz="1600" dirty="0">
                <a:solidFill>
                  <a:sysClr val="windowText" lastClr="000000"/>
                </a:solidFill>
              </a:rPr>
              <a:t> </a:t>
            </a:r>
            <a:r>
              <a:rPr lang="en-US" sz="1600" dirty="0" err="1">
                <a:solidFill>
                  <a:sysClr val="windowText" lastClr="000000"/>
                </a:solidFill>
              </a:rPr>
              <a:t>predije</a:t>
            </a:r>
            <a:r>
              <a:rPr lang="en-US" sz="1600" dirty="0">
                <a:solidFill>
                  <a:sysClr val="windowText" lastClr="000000"/>
                </a:solidFill>
              </a:rPr>
              <a:t>, ¿</a:t>
            </a:r>
            <a:r>
              <a:rPr lang="en-US" sz="1600" dirty="0" err="1">
                <a:solidFill>
                  <a:sysClr val="windowText" lastClr="000000"/>
                </a:solidFill>
              </a:rPr>
              <a:t>cuántos</a:t>
            </a:r>
            <a:r>
              <a:rPr lang="en-US" sz="1600" dirty="0">
                <a:solidFill>
                  <a:sysClr val="windowText" lastClr="000000"/>
                </a:solidFill>
              </a:rPr>
              <a:t> </a:t>
            </a:r>
            <a:r>
              <a:rPr lang="en-US" sz="1600" dirty="0" err="1">
                <a:solidFill>
                  <a:sysClr val="windowText" lastClr="000000"/>
                </a:solidFill>
              </a:rPr>
              <a:t>eran</a:t>
            </a:r>
            <a:r>
              <a:rPr lang="en-US" sz="1600" dirty="0">
                <a:solidFill>
                  <a:sysClr val="windowText" lastClr="000000"/>
                </a:solidFill>
              </a:rPr>
              <a:t> </a:t>
            </a:r>
            <a:r>
              <a:rPr lang="en-US" sz="1600" dirty="0" err="1">
                <a:solidFill>
                  <a:sysClr val="windowText" lastClr="000000"/>
                </a:solidFill>
              </a:rPr>
              <a:t>realmente</a:t>
            </a:r>
            <a:r>
              <a:rPr lang="en-US" sz="1600" dirty="0">
                <a:solidFill>
                  <a:sysClr val="windowText" lastClr="000000"/>
                </a:solidFill>
              </a:rPr>
              <a:t> </a:t>
            </a:r>
            <a:r>
              <a:rPr lang="en-US" sz="1600" dirty="0" err="1">
                <a:solidFill>
                  <a:sysClr val="windowText" lastClr="000000"/>
                </a:solidFill>
              </a:rPr>
              <a:t>correctos</a:t>
            </a:r>
            <a:r>
              <a:rPr lang="en-US" sz="1600" dirty="0">
                <a:solidFill>
                  <a:sysClr val="windowText" lastClr="000000"/>
                </a:solidFill>
              </a:rPr>
              <a:t>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6826486-8BEF-3841-09CD-CE4ACFA273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755" y="5652710"/>
            <a:ext cx="5689778" cy="981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920447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DD7B7-4BA0-BF12-3EF7-799C96C09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1B185-54F1-F532-8771-24DDB331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R" dirty="0"/>
              <a:t>Conclusiones y próximos pasos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EFE88-6152-CC3E-D7AC-B8CC4DD35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1861" y="1656522"/>
            <a:ext cx="8948278" cy="4876800"/>
          </a:xfrm>
        </p:spPr>
        <p:txBody>
          <a:bodyPr>
            <a:normAutofit fontScale="92500"/>
          </a:bodyPr>
          <a:lstStyle/>
          <a:p>
            <a:r>
              <a:rPr lang="en-US" sz="2400" b="1" dirty="0" err="1"/>
              <a:t>Conclusiones</a:t>
            </a:r>
            <a:r>
              <a:rPr lang="en-US" sz="2400" dirty="0"/>
              <a:t>:</a:t>
            </a:r>
          </a:p>
          <a:p>
            <a:pPr lvl="1"/>
            <a:r>
              <a:rPr lang="en-US" sz="2000" dirty="0" err="1"/>
              <a:t>Automatización</a:t>
            </a:r>
            <a:r>
              <a:rPr lang="en-US" sz="2000" dirty="0"/>
              <a:t> </a:t>
            </a:r>
            <a:r>
              <a:rPr lang="en-US" sz="2000" dirty="0" err="1"/>
              <a:t>ya</a:t>
            </a:r>
            <a:r>
              <a:rPr lang="en-US" sz="2000" dirty="0"/>
              <a:t> no basta → se </a:t>
            </a:r>
            <a:r>
              <a:rPr lang="en-US" sz="2000" dirty="0" err="1"/>
              <a:t>necesita</a:t>
            </a:r>
            <a:r>
              <a:rPr lang="en-US" sz="2000" dirty="0"/>
              <a:t> </a:t>
            </a:r>
            <a:r>
              <a:rPr lang="en-US" sz="2000" dirty="0" err="1"/>
              <a:t>inteligencia</a:t>
            </a:r>
            <a:r>
              <a:rPr lang="en-US" sz="2000" dirty="0"/>
              <a:t>.</a:t>
            </a:r>
          </a:p>
          <a:p>
            <a:pPr lvl="1"/>
            <a:r>
              <a:rPr lang="en-US" sz="2000" dirty="0"/>
              <a:t>AI </a:t>
            </a:r>
            <a:r>
              <a:rPr lang="en-US" sz="2000" dirty="0" err="1"/>
              <a:t>permite</a:t>
            </a:r>
            <a:r>
              <a:rPr lang="en-US" sz="2000" dirty="0"/>
              <a:t> pipelines </a:t>
            </a:r>
            <a:r>
              <a:rPr lang="en-US" sz="2000" dirty="0" err="1"/>
              <a:t>más</a:t>
            </a:r>
            <a:r>
              <a:rPr lang="en-US" sz="2000" dirty="0"/>
              <a:t> </a:t>
            </a:r>
            <a:r>
              <a:rPr lang="en-US" sz="2000" dirty="0" err="1"/>
              <a:t>rápidos</a:t>
            </a:r>
            <a:r>
              <a:rPr lang="en-US" sz="2000" dirty="0"/>
              <a:t>, </a:t>
            </a:r>
            <a:r>
              <a:rPr lang="en-US" sz="2000" dirty="0" err="1"/>
              <a:t>menos</a:t>
            </a:r>
            <a:r>
              <a:rPr lang="en-US" sz="2000" dirty="0"/>
              <a:t> </a:t>
            </a:r>
            <a:r>
              <a:rPr lang="en-US" sz="2000" dirty="0" err="1"/>
              <a:t>costosos</a:t>
            </a:r>
            <a:r>
              <a:rPr lang="en-US" sz="2000" dirty="0"/>
              <a:t> y con </a:t>
            </a:r>
            <a:r>
              <a:rPr lang="en-US" sz="2000" dirty="0" err="1"/>
              <a:t>mejor</a:t>
            </a:r>
            <a:r>
              <a:rPr lang="en-US" sz="2000" dirty="0"/>
              <a:t> feedback.</a:t>
            </a:r>
          </a:p>
          <a:p>
            <a:pPr lvl="1"/>
            <a:r>
              <a:rPr lang="en-US" sz="2000" dirty="0" err="1"/>
              <a:t>Métricas</a:t>
            </a:r>
            <a:r>
              <a:rPr lang="en-US" sz="2000" dirty="0"/>
              <a:t> </a:t>
            </a:r>
            <a:r>
              <a:rPr lang="en-US" sz="2000" dirty="0" err="1"/>
              <a:t>demuestran</a:t>
            </a:r>
            <a:r>
              <a:rPr lang="en-US" sz="2000" dirty="0"/>
              <a:t> la </a:t>
            </a:r>
            <a:r>
              <a:rPr lang="en-US" sz="2000" dirty="0" err="1"/>
              <a:t>capacidad</a:t>
            </a:r>
            <a:r>
              <a:rPr lang="en-US" sz="2000" dirty="0"/>
              <a:t> de </a:t>
            </a:r>
            <a:r>
              <a:rPr lang="en-US" sz="2000" dirty="0" err="1"/>
              <a:t>seleccionar</a:t>
            </a:r>
            <a:r>
              <a:rPr lang="en-US" sz="2000" dirty="0"/>
              <a:t> tests y </a:t>
            </a:r>
            <a:r>
              <a:rPr lang="en-US" sz="2000" dirty="0" err="1"/>
              <a:t>entregas</a:t>
            </a:r>
            <a:r>
              <a:rPr lang="en-US" sz="2000" dirty="0"/>
              <a:t> </a:t>
            </a:r>
            <a:r>
              <a:rPr lang="en-US" sz="2000" dirty="0" err="1"/>
              <a:t>relevantes</a:t>
            </a:r>
            <a:r>
              <a:rPr lang="en-US" sz="2000" dirty="0"/>
              <a:t> sin </a:t>
            </a:r>
            <a:r>
              <a:rPr lang="en-US" sz="2000" dirty="0" err="1"/>
              <a:t>perder</a:t>
            </a:r>
            <a:r>
              <a:rPr lang="en-US" sz="2000" dirty="0"/>
              <a:t> </a:t>
            </a:r>
            <a:r>
              <a:rPr lang="en-US" sz="2000" dirty="0" err="1"/>
              <a:t>calidad</a:t>
            </a:r>
            <a:r>
              <a:rPr lang="en-US" sz="2000" dirty="0"/>
              <a:t>.</a:t>
            </a:r>
          </a:p>
          <a:p>
            <a:r>
              <a:rPr lang="en-US" sz="2400" b="1" dirty="0"/>
              <a:t>Next steps</a:t>
            </a:r>
            <a:r>
              <a:rPr lang="en-US" sz="2400" dirty="0"/>
              <a:t>:</a:t>
            </a:r>
          </a:p>
          <a:p>
            <a:pPr lvl="1"/>
            <a:r>
              <a:rPr lang="en-US" sz="2000" dirty="0" err="1"/>
              <a:t>Entrenar</a:t>
            </a:r>
            <a:r>
              <a:rPr lang="en-US" sz="2000" dirty="0"/>
              <a:t> </a:t>
            </a:r>
            <a:r>
              <a:rPr lang="en-US" sz="2000" dirty="0" err="1"/>
              <a:t>modelos</a:t>
            </a:r>
            <a:r>
              <a:rPr lang="en-US" sz="2000" dirty="0"/>
              <a:t> con </a:t>
            </a:r>
            <a:r>
              <a:rPr lang="en-US" sz="2000" dirty="0" err="1"/>
              <a:t>más</a:t>
            </a:r>
            <a:r>
              <a:rPr lang="en-US" sz="2000" dirty="0"/>
              <a:t> </a:t>
            </a:r>
            <a:r>
              <a:rPr lang="en-US" sz="2000" dirty="0" err="1"/>
              <a:t>datos</a:t>
            </a:r>
            <a:r>
              <a:rPr lang="en-US" sz="2000" dirty="0"/>
              <a:t> reales → </a:t>
            </a:r>
            <a:r>
              <a:rPr lang="en-US" sz="2000" dirty="0" err="1"/>
              <a:t>mejorar</a:t>
            </a:r>
            <a:r>
              <a:rPr lang="en-US" sz="2000" dirty="0"/>
              <a:t> </a:t>
            </a:r>
            <a:r>
              <a:rPr lang="en-US" sz="2000" dirty="0" err="1"/>
              <a:t>precisión</a:t>
            </a:r>
            <a:r>
              <a:rPr lang="en-US" sz="2000" dirty="0"/>
              <a:t>/recall.</a:t>
            </a:r>
          </a:p>
          <a:p>
            <a:pPr lvl="1"/>
            <a:r>
              <a:rPr lang="en-US" sz="2000" dirty="0" err="1"/>
              <a:t>Integrar</a:t>
            </a:r>
            <a:r>
              <a:rPr lang="en-US" sz="2000" dirty="0"/>
              <a:t> AI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otras</a:t>
            </a:r>
            <a:r>
              <a:rPr lang="en-US" sz="2000" dirty="0"/>
              <a:t> </a:t>
            </a:r>
            <a:r>
              <a:rPr lang="en-US" sz="2000" dirty="0" err="1"/>
              <a:t>etapas</a:t>
            </a:r>
            <a:r>
              <a:rPr lang="en-US" sz="2000" dirty="0"/>
              <a:t> del pipeline (</a:t>
            </a:r>
            <a:r>
              <a:rPr lang="en-US" sz="2000" dirty="0" err="1"/>
              <a:t>seguridad</a:t>
            </a:r>
            <a:r>
              <a:rPr lang="en-US" sz="2000" dirty="0"/>
              <a:t>, performance).</a:t>
            </a:r>
          </a:p>
          <a:p>
            <a:pPr lvl="1"/>
            <a:r>
              <a:rPr lang="en-US" sz="2000" dirty="0" err="1"/>
              <a:t>Escalar</a:t>
            </a:r>
            <a:r>
              <a:rPr lang="en-US" sz="2000" dirty="0"/>
              <a:t> </a:t>
            </a:r>
            <a:r>
              <a:rPr lang="en-US" sz="2000" dirty="0" err="1"/>
              <a:t>el</a:t>
            </a:r>
            <a:r>
              <a:rPr lang="en-US" sz="2000" dirty="0"/>
              <a:t> </a:t>
            </a:r>
            <a:r>
              <a:rPr lang="en-US" sz="2000" dirty="0" err="1"/>
              <a:t>enfoque</a:t>
            </a:r>
            <a:r>
              <a:rPr lang="en-US" sz="2000" dirty="0"/>
              <a:t> a </a:t>
            </a:r>
            <a:r>
              <a:rPr lang="en-US" sz="2000" dirty="0" err="1"/>
              <a:t>entornos</a:t>
            </a:r>
            <a:r>
              <a:rPr lang="en-US" sz="2000" dirty="0"/>
              <a:t> multi-repo y pipelines </a:t>
            </a:r>
            <a:r>
              <a:rPr lang="en-US" sz="2000" dirty="0" err="1"/>
              <a:t>distribuidos</a:t>
            </a:r>
            <a:r>
              <a:rPr lang="en-US" sz="2000" dirty="0"/>
              <a:t>.</a:t>
            </a:r>
          </a:p>
          <a:p>
            <a:pPr lvl="1"/>
            <a:r>
              <a:rPr lang="en-US" sz="2000" dirty="0" err="1"/>
              <a:t>Evaluar</a:t>
            </a:r>
            <a:r>
              <a:rPr lang="en-US" sz="2000" dirty="0"/>
              <a:t> </a:t>
            </a:r>
            <a:r>
              <a:rPr lang="en-US" sz="2000" dirty="0" err="1"/>
              <a:t>impacto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costo</a:t>
            </a:r>
            <a:r>
              <a:rPr lang="en-US" sz="2000" dirty="0"/>
              <a:t>/</a:t>
            </a:r>
            <a:r>
              <a:rPr lang="en-US" sz="2000" dirty="0" err="1"/>
              <a:t>tiempo</a:t>
            </a:r>
            <a:r>
              <a:rPr lang="en-US" sz="2000" dirty="0"/>
              <a:t> de builds </a:t>
            </a:r>
            <a:r>
              <a:rPr lang="en-US" sz="2000" dirty="0" err="1"/>
              <a:t>como</a:t>
            </a:r>
            <a:r>
              <a:rPr lang="en-US" sz="2000" dirty="0"/>
              <a:t> KPI principal.</a:t>
            </a:r>
          </a:p>
        </p:txBody>
      </p:sp>
    </p:spTree>
    <p:extLst>
      <p:ext uri="{BB962C8B-B14F-4D97-AF65-F5344CB8AC3E}">
        <p14:creationId xmlns:p14="http://schemas.microsoft.com/office/powerpoint/2010/main" val="2360046594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6717DB-DA32-3858-7AD2-2297A7C90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R" sz="7200" dirty="0">
                <a:solidFill>
                  <a:schemeClr val="bg1"/>
                </a:solidFill>
              </a:rPr>
              <a:t>Gracias</a:t>
            </a:r>
            <a:endParaRPr lang="en-CR" dirty="0">
              <a:solidFill>
                <a:schemeClr val="bg1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00FD6-13F3-E29B-5EB8-FC59B3793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CR" sz="2000" dirty="0">
                <a:solidFill>
                  <a:schemeClr val="bg1"/>
                </a:solidFill>
              </a:rPr>
              <a:t>LinkedIn: </a:t>
            </a:r>
            <a:r>
              <a:rPr lang="en-US" sz="2000" dirty="0" err="1">
                <a:solidFill>
                  <a:schemeClr val="bg1"/>
                </a:solidFill>
              </a:rPr>
              <a:t>david</a:t>
            </a:r>
            <a:r>
              <a:rPr lang="en-US" sz="2000" dirty="0">
                <a:solidFill>
                  <a:schemeClr val="bg1"/>
                </a:solidFill>
              </a:rPr>
              <a:t>-</a:t>
            </a:r>
            <a:r>
              <a:rPr lang="en-US" sz="2000" dirty="0" err="1">
                <a:solidFill>
                  <a:schemeClr val="bg1"/>
                </a:solidFill>
              </a:rPr>
              <a:t>perez</a:t>
            </a:r>
            <a:r>
              <a:rPr lang="en-US" sz="2000" dirty="0">
                <a:solidFill>
                  <a:schemeClr val="bg1"/>
                </a:solidFill>
              </a:rPr>
              <a:t>-r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Github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dirty="0" err="1">
                <a:solidFill>
                  <a:schemeClr val="bg1"/>
                </a:solidFill>
              </a:rPr>
              <a:t>github.com</a:t>
            </a:r>
            <a:r>
              <a:rPr lang="en-US" sz="2000" dirty="0">
                <a:solidFill>
                  <a:schemeClr val="bg1"/>
                </a:solidFill>
              </a:rPr>
              <a:t>/</a:t>
            </a:r>
            <a:r>
              <a:rPr lang="en-US" sz="2000" dirty="0" err="1">
                <a:solidFill>
                  <a:schemeClr val="bg1"/>
                </a:solidFill>
              </a:rPr>
              <a:t>snwbr</a:t>
            </a:r>
            <a:endParaRPr lang="en-CR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3030228"/>
      </p:ext>
    </p:extLst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329</TotalTime>
  <Words>512</Words>
  <Application>Microsoft Macintosh PowerPoint</Application>
  <PresentationFormat>Widescreen</PresentationFormat>
  <Paragraphs>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MS Shell Dlg 2</vt:lpstr>
      <vt:lpstr>Wingdings</vt:lpstr>
      <vt:lpstr>Wingdings 3</vt:lpstr>
      <vt:lpstr>Madison</vt:lpstr>
      <vt:lpstr>When Automation is not enough: Smarter CI/CD Pipelines</vt:lpstr>
      <vt:lpstr>Agenda</vt:lpstr>
      <vt:lpstr>Estado del CI/CD actual</vt:lpstr>
      <vt:lpstr>¿Por qué AI en DevOps?</vt:lpstr>
      <vt:lpstr>SDLC + AI = Mejor software</vt:lpstr>
      <vt:lpstr>Demo: Mejoras en el CI/CD habilitadas por AI</vt:lpstr>
      <vt:lpstr>PowerPoint Presentation</vt:lpstr>
      <vt:lpstr>Conclusiones y próximos pasos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Pérez</dc:creator>
  <cp:lastModifiedBy>David Pérez</cp:lastModifiedBy>
  <cp:revision>6</cp:revision>
  <dcterms:created xsi:type="dcterms:W3CDTF">2025-09-29T22:53:24Z</dcterms:created>
  <dcterms:modified xsi:type="dcterms:W3CDTF">2025-11-09T18:32:08Z</dcterms:modified>
</cp:coreProperties>
</file>