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Prompt Light"/>
      <p:regular r:id="rId23"/>
      <p:bold r:id="rId24"/>
      <p:italic r:id="rId25"/>
      <p:boldItalic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Promp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gMGUyKYpgG8KuDSiNs7RmgdsB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mptLight-bold.fntdata"/><Relationship Id="rId23" Type="http://schemas.openxmlformats.org/officeDocument/2006/relationships/font" Target="fonts/Prompt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mptLight-boldItalic.fntdata"/><Relationship Id="rId25" Type="http://schemas.openxmlformats.org/officeDocument/2006/relationships/font" Target="fonts/PromptLight-italic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mpt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33" Type="http://schemas.openxmlformats.org/officeDocument/2006/relationships/font" Target="fonts/Prompt-italic.fntdata"/><Relationship Id="rId10" Type="http://schemas.openxmlformats.org/officeDocument/2006/relationships/slide" Target="slides/slide5.xml"/><Relationship Id="rId32" Type="http://schemas.openxmlformats.org/officeDocument/2006/relationships/font" Target="fonts/Prompt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Promp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1c36684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a1c36684d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d3252d9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9bd3252d9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c36684d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a1c36684d3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c36684d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1c36684d3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1c36684d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a1c36684d3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c36684d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a1c36684d3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1c36684d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a1c36684d3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c36684d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a1c36684d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1c36684d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a1c36684d3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c36684d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a1c36684d3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1c36684d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a1c36684d3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1c36684d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a1c36684d3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04600" y="1444025"/>
            <a:ext cx="13572000" cy="5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0066"/>
                </a:solidFill>
                <a:latin typeface="Prompt"/>
                <a:ea typeface="Prompt"/>
                <a:cs typeface="Prompt"/>
                <a:sym typeface="Prompt"/>
              </a:rPr>
              <a:t>When Automation is not enough: Smarter CI/CD Pipelines</a:t>
            </a:r>
            <a:endParaRPr b="1" i="0" sz="9200" u="none" cap="none" strike="noStrike">
              <a:solidFill>
                <a:srgbClr val="FF0066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168561" y="1476076"/>
            <a:ext cx="13950900" cy="5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00ADFE"/>
                </a:solidFill>
                <a:latin typeface="Prompt"/>
                <a:ea typeface="Prompt"/>
                <a:cs typeface="Prompt"/>
                <a:sym typeface="Prompt"/>
              </a:rPr>
              <a:t>When Automation is not enough: Smarter CI/CD Pipelines</a:t>
            </a:r>
            <a:endParaRPr b="1" i="0" sz="9200" u="none" cap="none" strike="noStrike">
              <a:solidFill>
                <a:srgbClr val="00ADFE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12882" y="1498854"/>
            <a:ext cx="13392900" cy="5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When Automation is not enough: Smarter CI/CD Pipelines</a:t>
            </a:r>
            <a:endParaRPr b="0" i="0" sz="9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12100" y="7999425"/>
            <a:ext cx="1486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David Perez</a:t>
            </a:r>
            <a:r>
              <a:rPr b="1" i="0" lang="en-US" sz="3999" u="none" cap="none" strike="noStrik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| Cloud Infrastructure &amp; Dev</a:t>
            </a: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Ops</a:t>
            </a:r>
            <a:r>
              <a:rPr b="1" i="0" lang="en-US" sz="3999" u="none" cap="none" strike="noStrik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| </a:t>
            </a: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Gorilla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"/>
          <p:cNvGrpSpPr/>
          <p:nvPr/>
        </p:nvGrpSpPr>
        <p:grpSpPr>
          <a:xfrm>
            <a:off x="9979000" y="-234357"/>
            <a:ext cx="11834653" cy="10596798"/>
            <a:chOff x="0" y="-181809"/>
            <a:chExt cx="13419496" cy="12015873"/>
          </a:xfrm>
        </p:grpSpPr>
        <p:grpSp>
          <p:nvGrpSpPr>
            <p:cNvPr id="93" name="Google Shape;93;p2"/>
            <p:cNvGrpSpPr/>
            <p:nvPr/>
          </p:nvGrpSpPr>
          <p:grpSpPr>
            <a:xfrm>
              <a:off x="635631" y="497512"/>
              <a:ext cx="12783865" cy="11336552"/>
              <a:chOff x="0" y="-38100"/>
              <a:chExt cx="2679000" cy="2375700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0" y="0"/>
                <a:ext cx="2678968" cy="2337483"/>
              </a:xfrm>
              <a:custGeom>
                <a:rect b="b" l="l" r="r" t="t"/>
                <a:pathLst>
                  <a:path extrusionOk="0" h="2337483" w="2678968">
                    <a:moveTo>
                      <a:pt x="0" y="0"/>
                    </a:moveTo>
                    <a:lnTo>
                      <a:pt x="2678968" y="0"/>
                    </a:lnTo>
                    <a:lnTo>
                      <a:pt x="2678968" y="2337483"/>
                    </a:lnTo>
                    <a:lnTo>
                      <a:pt x="0" y="2337483"/>
                    </a:lnTo>
                    <a:close/>
                  </a:path>
                </a:pathLst>
              </a:custGeom>
              <a:solidFill>
                <a:srgbClr val="00ADFE"/>
              </a:solidFill>
              <a:ln>
                <a:noFill/>
              </a:ln>
            </p:spPr>
          </p:sp>
          <p:sp>
            <p:nvSpPr>
              <p:cNvPr id="95" name="Google Shape;95;p2"/>
              <p:cNvSpPr txBox="1"/>
              <p:nvPr/>
            </p:nvSpPr>
            <p:spPr>
              <a:xfrm>
                <a:off x="0" y="-38100"/>
                <a:ext cx="2679000" cy="237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9750" lIns="59750" spcFirstLastPara="1" rIns="59750" wrap="square" tIns="5975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16"/>
                  <a:buFont typeface="Arial"/>
                  <a:buNone/>
                </a:pPr>
                <a:r>
                  <a:t/>
                </a:r>
                <a:endParaRPr b="0" i="0" sz="211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2"/>
            <p:cNvGrpSpPr/>
            <p:nvPr/>
          </p:nvGrpSpPr>
          <p:grpSpPr>
            <a:xfrm>
              <a:off x="0" y="-181809"/>
              <a:ext cx="12586308" cy="11204019"/>
              <a:chOff x="0" y="-38100"/>
              <a:chExt cx="2637600" cy="2347926"/>
            </a:xfrm>
          </p:grpSpPr>
          <p:sp>
            <p:nvSpPr>
              <p:cNvPr id="97" name="Google Shape;97;p2"/>
              <p:cNvSpPr/>
              <p:nvPr/>
            </p:nvSpPr>
            <p:spPr>
              <a:xfrm>
                <a:off x="0" y="0"/>
                <a:ext cx="2637483" cy="2309826"/>
              </a:xfrm>
              <a:custGeom>
                <a:rect b="b" l="l" r="r" t="t"/>
                <a:pathLst>
                  <a:path extrusionOk="0" h="2309826" w="2637483">
                    <a:moveTo>
                      <a:pt x="0" y="0"/>
                    </a:moveTo>
                    <a:lnTo>
                      <a:pt x="2637483" y="0"/>
                    </a:lnTo>
                    <a:lnTo>
                      <a:pt x="2637483" y="2309826"/>
                    </a:lnTo>
                    <a:lnTo>
                      <a:pt x="0" y="2309826"/>
                    </a:lnTo>
                    <a:close/>
                  </a:path>
                </a:pathLst>
              </a:custGeom>
              <a:solidFill>
                <a:srgbClr val="FF0066"/>
              </a:solidFill>
              <a:ln>
                <a:noFill/>
              </a:ln>
            </p:spPr>
          </p:sp>
          <p:sp>
            <p:nvSpPr>
              <p:cNvPr id="98" name="Google Shape;98;p2"/>
              <p:cNvSpPr txBox="1"/>
              <p:nvPr/>
            </p:nvSpPr>
            <p:spPr>
              <a:xfrm>
                <a:off x="0" y="-38100"/>
                <a:ext cx="2637600" cy="23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9750" lIns="59750" spcFirstLastPara="1" rIns="59750" wrap="square" tIns="5975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16"/>
                  <a:buFont typeface="Arial"/>
                  <a:buNone/>
                </a:pPr>
                <a:r>
                  <a:t/>
                </a:r>
                <a:endParaRPr b="0" i="0" sz="211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2"/>
            <p:cNvGrpSpPr/>
            <p:nvPr/>
          </p:nvGrpSpPr>
          <p:grpSpPr>
            <a:xfrm>
              <a:off x="301088" y="91864"/>
              <a:ext cx="12759542" cy="11455473"/>
              <a:chOff x="0" y="-38100"/>
              <a:chExt cx="2673903" cy="2400621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0" y="0"/>
                <a:ext cx="2673903" cy="2362521"/>
              </a:xfrm>
              <a:custGeom>
                <a:rect b="b" l="l" r="r" t="t"/>
                <a:pathLst>
                  <a:path extrusionOk="0" h="2362521" w="2673903">
                    <a:moveTo>
                      <a:pt x="0" y="0"/>
                    </a:moveTo>
                    <a:lnTo>
                      <a:pt x="2673903" y="0"/>
                    </a:lnTo>
                    <a:lnTo>
                      <a:pt x="2673903" y="2362521"/>
                    </a:lnTo>
                    <a:lnTo>
                      <a:pt x="0" y="23625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1" name="Google Shape;101;p2"/>
              <p:cNvSpPr txBox="1"/>
              <p:nvPr/>
            </p:nvSpPr>
            <p:spPr>
              <a:xfrm>
                <a:off x="0" y="-38100"/>
                <a:ext cx="2673900" cy="24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9750" lIns="59750" spcFirstLastPara="1" rIns="59750" wrap="square" tIns="59750">
                <a:noAutofit/>
              </a:bodyPr>
              <a:lstStyle/>
              <a:p>
                <a:pPr indent="0" lvl="0" marL="0" marR="0" rtl="0" algn="ctr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16"/>
                  <a:buFont typeface="Arial"/>
                  <a:buNone/>
                </a:pPr>
                <a:r>
                  <a:t/>
                </a:r>
                <a:endParaRPr b="0" i="0" sz="211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" name="Google Shape;102;p2"/>
          <p:cNvSpPr txBox="1"/>
          <p:nvPr/>
        </p:nvSpPr>
        <p:spPr>
          <a:xfrm>
            <a:off x="703417" y="534485"/>
            <a:ext cx="598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SOBRE MI</a:t>
            </a:r>
            <a:endParaRPr b="0" i="0" sz="200" u="none" cap="none" strike="noStrike">
              <a:solidFill>
                <a:srgbClr val="000000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03425" y="1894075"/>
            <a:ext cx="8212500" cy="6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David Pérez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57200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15 años de experiencia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57200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Consultor en Costa Rica, Estados Unidos, Colombia, Noruega, España and Reino Unido.</a:t>
            </a:r>
            <a:endParaRPr b="0" i="0" sz="3999" u="none" cap="none" strike="noStrike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57200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Videojuegos, musica, comunidades, naturaleza.</a:t>
            </a:r>
            <a:endParaRPr b="0" i="0" sz="3999" u="none" cap="none" strike="noStrike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pic>
        <p:nvPicPr>
          <p:cNvPr id="104" name="Google Shape;104;p2" title="15026a19-6466-4445-8eaa-58d1ac61fb94.jpg"/>
          <p:cNvPicPr preferRelativeResize="0"/>
          <p:nvPr/>
        </p:nvPicPr>
        <p:blipFill rotWithShape="1">
          <a:blip r:embed="rId3">
            <a:alphaModFix/>
          </a:blip>
          <a:srcRect b="0" l="12502" r="12495" t="0"/>
          <a:stretch/>
        </p:blipFill>
        <p:spPr>
          <a:xfrm>
            <a:off x="10250800" y="149550"/>
            <a:ext cx="9949327" cy="99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028700" y="857250"/>
            <a:ext cx="1623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Agenda</a:t>
            </a:r>
            <a:endParaRPr b="1" i="0" sz="9200" u="none" cap="none" strike="noStrike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166052" y="3012256"/>
            <a:ext cx="16139100" cy="49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Estado del CI/CD actual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¿Por qué AI en DevOps?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SDLC + AI = Mejor software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Demo: Mejoras en el CI/CD habilitadas por AI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Conclusiones y próximos pasos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6"/>
          <p:cNvGrpSpPr/>
          <p:nvPr/>
        </p:nvGrpSpPr>
        <p:grpSpPr>
          <a:xfrm>
            <a:off x="0" y="10062677"/>
            <a:ext cx="18288122" cy="224302"/>
            <a:chOff x="0" y="-47625"/>
            <a:chExt cx="4816593" cy="931100"/>
          </a:xfrm>
        </p:grpSpPr>
        <p:sp>
          <p:nvSpPr>
            <p:cNvPr id="116" name="Google Shape;116;p6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17" name="Google Shape;117;p6"/>
            <p:cNvSpPr txBox="1"/>
            <p:nvPr/>
          </p:nvSpPr>
          <p:spPr>
            <a:xfrm>
              <a:off x="0" y="-47625"/>
              <a:ext cx="4816593" cy="9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6"/>
          <p:cNvSpPr txBox="1"/>
          <p:nvPr/>
        </p:nvSpPr>
        <p:spPr>
          <a:xfrm>
            <a:off x="1028700" y="857250"/>
            <a:ext cx="1623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Estado del CI/CD actual</a:t>
            </a:r>
            <a:endParaRPr b="0" i="0" sz="1400" u="none" cap="none" strike="noStrike">
              <a:solidFill>
                <a:srgbClr val="0000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CI/CD hoy en día es rápido y automatizado, pero aún con limitaciones: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Pipelines rígidos → ejecutan todos los pasos sin discriminar.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Tiempo y costo → tests y despliegues largos ralentizan la entrega.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Ruido en fallos → difícil detectar la raíz del problema entre cientos de logs.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Falta de inteligencia → automatización ≠ optimización.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Problema central: pipelines automáticos pero no “inteligentes”.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-12246"/>
            <a:ext cx="12241634" cy="10299246"/>
          </a:xfrm>
          <a:custGeom>
            <a:rect b="b" l="l" r="r" t="t"/>
            <a:pathLst>
              <a:path extrusionOk="0" h="10299246" w="12241634">
                <a:moveTo>
                  <a:pt x="0" y="0"/>
                </a:moveTo>
                <a:lnTo>
                  <a:pt x="12241634" y="0"/>
                </a:lnTo>
                <a:lnTo>
                  <a:pt x="12241634" y="10299246"/>
                </a:lnTo>
                <a:lnTo>
                  <a:pt x="0" y="10299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2411" r="0" t="0"/>
            </a:stretch>
          </a:blipFill>
          <a:ln>
            <a:noFill/>
          </a:ln>
        </p:spPr>
      </p:sp>
      <p:sp>
        <p:nvSpPr>
          <p:cNvPr id="125" name="Google Shape;125;p5"/>
          <p:cNvSpPr txBox="1"/>
          <p:nvPr/>
        </p:nvSpPr>
        <p:spPr>
          <a:xfrm>
            <a:off x="808125" y="1771226"/>
            <a:ext cx="10625400" cy="7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44444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AI puede aportar razonamiento y predicción: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Selección inteligente de tests y despliegues → correr solo lo relevante a los cambios.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Diagnóstico automático de fallos → explicar logs complejos en lenguaje natural.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Priorización de issues → enfocar esfuerzos donde el riesgo es mayor.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Beneficio: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reducir tiempos de build, ahorrar costos de infraestructura y acelerar feedback a los devs.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808125" y="322853"/>
            <a:ext cx="106254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9577"/>
              <a:buFont typeface="Arial"/>
              <a:buNone/>
            </a:pPr>
            <a:r>
              <a:rPr b="1" lang="en-US" sz="7100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¿Por qué AI en DevOps?</a:t>
            </a:r>
            <a:endParaRPr b="1" i="0" sz="7100" u="none" cap="none" strike="noStrike">
              <a:solidFill>
                <a:srgbClr val="000062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7400" y="2954962"/>
            <a:ext cx="6544051" cy="436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g3a1c36684d3_0_7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133" name="Google Shape;133;g3a1c36684d3_0_7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34" name="Google Shape;134;g3a1c36684d3_0_7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g3a1c36684d3_0_7"/>
          <p:cNvSpPr txBox="1"/>
          <p:nvPr/>
        </p:nvSpPr>
        <p:spPr>
          <a:xfrm>
            <a:off x="1028700" y="857250"/>
            <a:ext cx="1623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SDLC + AI = Mejor software</a:t>
            </a:r>
            <a:endParaRPr b="0" i="0" sz="1400" u="none" cap="none" strike="noStrike">
              <a:solidFill>
                <a:srgbClr val="0000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a1c36684d3_0_7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En codificación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AI ayuda con code completion, linting inteligente, detectar vulnerabilidades.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En pruebas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selección y generación de tests con ML.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En despliegue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detectar patrones anómalos en métricas y prevenir incidentes.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En operaciones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análisis de logs, predicción de incidentes, auto-remediación.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El ciclo SDLC se convierte en un </a:t>
            </a: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loop inteligente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, no solo un loop automático.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g39bd3252d9e_0_25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142" name="Google Shape;142;g39bd3252d9e_0_25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43" name="Google Shape;143;g39bd3252d9e_0_25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g39bd3252d9e_0_25"/>
          <p:cNvSpPr txBox="1"/>
          <p:nvPr/>
        </p:nvSpPr>
        <p:spPr>
          <a:xfrm>
            <a:off x="1166052" y="3012256"/>
            <a:ext cx="16139100" cy="49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"/>
              <a:buChar char="-"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¿Qué mostramos?</a:t>
            </a:r>
            <a:endParaRPr b="1" sz="3999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Cambias un archivo en app/.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El modelo ML predice qué tests son relevantes.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Solo se ejecutan esos tests → pipeline más rápido y eficiente.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Si hay fallos, un LLM analiza el pytest log y entrega un diagnóstico explicativo en el Resumen.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145" name="Google Shape;145;g39bd3252d9e_0_25"/>
          <p:cNvSpPr txBox="1"/>
          <p:nvPr/>
        </p:nvSpPr>
        <p:spPr>
          <a:xfrm>
            <a:off x="1028700" y="857250"/>
            <a:ext cx="162306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Demo: Mejoras en el CI/CD habilitadas por AI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c36684d3_0_42"/>
          <p:cNvSpPr txBox="1"/>
          <p:nvPr/>
        </p:nvSpPr>
        <p:spPr>
          <a:xfrm>
            <a:off x="1166052" y="3012256"/>
            <a:ext cx="16139100" cy="6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Prompt"/>
              <a:buChar char="-"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Dependencias</a:t>
            </a:r>
            <a:endParaRPr b="1" sz="3999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pandas          # ML: Manipulación de datos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numpy           # ML: Operaciones numéricas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scikit-learn    # ML: Modelos y algoritmos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joblib          # ML: Persistencia de modelos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openai          # AI: Integración con LLM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pytest          # Testing (no ML/AI)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825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9"/>
              <a:buFont typeface="Courier New"/>
              <a:buChar char="-"/>
            </a:pPr>
            <a:r>
              <a:rPr lang="en-US" sz="39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junit-xml       # Reportes (no ML/AI)</a:t>
            </a:r>
            <a:endParaRPr sz="3999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51" name="Google Shape;151;g3a1c36684d3_0_42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152" name="Google Shape;152;g3a1c36684d3_0_42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53" name="Google Shape;153;g3a1c36684d3_0_42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g3a1c36684d3_0_42"/>
          <p:cNvSpPr txBox="1"/>
          <p:nvPr/>
        </p:nvSpPr>
        <p:spPr>
          <a:xfrm>
            <a:off x="1028700" y="857250"/>
            <a:ext cx="162306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9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Demo: Mejoras en el CI/CD habilitadas por AI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g3a1c36684d3_0_120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160" name="Google Shape;160;g3a1c36684d3_0_120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61" name="Google Shape;161;g3a1c36684d3_0_120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g3a1c36684d3_0_120"/>
          <p:cNvSpPr txBox="1"/>
          <p:nvPr/>
        </p:nvSpPr>
        <p:spPr>
          <a:xfrm>
            <a:off x="931200" y="2227388"/>
            <a:ext cx="7281600" cy="6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406355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Precision:</a:t>
            </a: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 exactitud de las predicciones positivas.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06355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Recall:</a:t>
            </a: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 habilidad del modelo para encontrar todos los positivos.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06355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F1-score:</a:t>
            </a: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 balance entre precision y recall.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06355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Accuracy:</a:t>
            </a: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 proporción de predicciones correctas en total.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Alta </a:t>
            </a: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precisión</a:t>
            </a: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 -&gt; menos falsos positivos.</a:t>
            </a:r>
            <a:endParaRPr sz="39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Alto recall</a:t>
            </a:r>
            <a:r>
              <a:rPr lang="en-US" sz="39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 -&gt; menos falsos negativos.</a:t>
            </a:r>
            <a:endParaRPr b="1" sz="3999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pic>
        <p:nvPicPr>
          <p:cNvPr id="163" name="Google Shape;163;g3a1c36684d3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5775" y="1872375"/>
            <a:ext cx="8232750" cy="62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a1c36684d3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5775" y="8189725"/>
            <a:ext cx="8232750" cy="143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a1c36684d3_0_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4725" y="157575"/>
            <a:ext cx="44005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a1c36684d3_0_1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43850" y="167100"/>
            <a:ext cx="440055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c36684d3_0_140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44444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Conclusiones:</a:t>
            </a:r>
            <a:endParaRPr b="1" sz="3999">
              <a:solidFill>
                <a:srgbClr val="000062"/>
              </a:solidFill>
              <a:latin typeface="Prompt"/>
              <a:ea typeface="Prompt"/>
              <a:cs typeface="Prompt"/>
              <a:sym typeface="Promp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Automatización ya no basta → se necesita inteligencia.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AI permite pipelines más rápidos, menos costosos y con mejor feedback.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Métricas demuestran la capacidad de seleccionar tests y entregas relevantes sin perder calidad.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Next steps:</a:t>
            </a:r>
            <a:endParaRPr b="1" sz="3999">
              <a:solidFill>
                <a:srgbClr val="000062"/>
              </a:solidFill>
              <a:latin typeface="Prompt"/>
              <a:ea typeface="Prompt"/>
              <a:cs typeface="Prompt"/>
              <a:sym typeface="Promp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Entrenar modelos con más datos reales → mejorar precisión/recall.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Integrar AI en otras etapas del pipeline (seguridad, performance).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Escalar el enfoque a entornos multi-repo y pipelines distribuidos.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Evaluar impacto en costo/tiempo de builds como KPI principal.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grpSp>
        <p:nvGrpSpPr>
          <p:cNvPr id="172" name="Google Shape;172;g3a1c36684d3_0_140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173" name="Google Shape;173;g3a1c36684d3_0_140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74" name="Google Shape;174;g3a1c36684d3_0_140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g3a1c36684d3_0_140"/>
          <p:cNvSpPr txBox="1"/>
          <p:nvPr/>
        </p:nvSpPr>
        <p:spPr>
          <a:xfrm>
            <a:off x="1028700" y="857250"/>
            <a:ext cx="162306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Conclusiones y próximos pasos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6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c36684d3_0_25"/>
          <p:cNvSpPr txBox="1"/>
          <p:nvPr/>
        </p:nvSpPr>
        <p:spPr>
          <a:xfrm>
            <a:off x="608901" y="7475975"/>
            <a:ext cx="6452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Thank you!</a:t>
            </a:r>
            <a:endParaRPr b="1" i="0" sz="6300" u="none" cap="none" strike="noStrike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pic>
        <p:nvPicPr>
          <p:cNvPr id="181" name="Google Shape;181;g3a1c36684d3_0_25" title="Screenshot 2025-10-21 at 9.51.41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172" y="2357476"/>
            <a:ext cx="5011849" cy="503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a1c36684d3_0_25"/>
          <p:cNvSpPr txBox="1"/>
          <p:nvPr/>
        </p:nvSpPr>
        <p:spPr>
          <a:xfrm>
            <a:off x="9258574" y="752074"/>
            <a:ext cx="83379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1" i="0" lang="en-US" sz="5498" u="none" cap="none" strike="noStrike">
                <a:solidFill>
                  <a:srgbClr val="00ADFE"/>
                </a:solidFill>
                <a:latin typeface="Prompt"/>
                <a:ea typeface="Prompt"/>
                <a:cs typeface="Prompt"/>
                <a:sym typeface="Prompt"/>
              </a:rPr>
              <a:t>SET UP YOUR PROFILE</a:t>
            </a:r>
            <a:endParaRPr b="1" i="0" sz="5498" u="none" cap="none" strike="noStrike">
              <a:solidFill>
                <a:srgbClr val="00ADFE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83" name="Google Shape;183;g3a1c36684d3_0_25"/>
          <p:cNvSpPr txBox="1"/>
          <p:nvPr/>
        </p:nvSpPr>
        <p:spPr>
          <a:xfrm>
            <a:off x="9419250" y="751729"/>
            <a:ext cx="81117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1" i="0" lang="en-US" sz="5498" u="none" cap="none" strike="noStrike">
                <a:solidFill>
                  <a:srgbClr val="FF0066"/>
                </a:solidFill>
                <a:latin typeface="Prompt"/>
                <a:ea typeface="Prompt"/>
                <a:cs typeface="Prompt"/>
                <a:sym typeface="Prompt"/>
              </a:rPr>
              <a:t>SET UP YOUR PROFILE</a:t>
            </a:r>
            <a:endParaRPr b="1" i="0" sz="5498" u="none" cap="none" strike="noStrike">
              <a:solidFill>
                <a:srgbClr val="FF0066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84" name="Google Shape;184;g3a1c36684d3_0_25"/>
          <p:cNvSpPr txBox="1"/>
          <p:nvPr/>
        </p:nvSpPr>
        <p:spPr>
          <a:xfrm>
            <a:off x="9522523" y="750313"/>
            <a:ext cx="80043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1" i="0" lang="en-US" sz="5498" u="none" cap="none" strike="noStrik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SET UP YOUR PROFILE</a:t>
            </a:r>
            <a:endParaRPr b="0" i="0" sz="54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a1c36684d3_0_25"/>
          <p:cNvSpPr txBox="1"/>
          <p:nvPr/>
        </p:nvSpPr>
        <p:spPr>
          <a:xfrm>
            <a:off x="1252260" y="8427448"/>
            <a:ext cx="136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@</a:t>
            </a:r>
            <a:r>
              <a:rPr b="1"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dperezro1201          @snwbr</a:t>
            </a:r>
            <a:r>
              <a:rPr b="1" lang="en-US" sz="3000">
                <a:solidFill>
                  <a:schemeClr val="lt1"/>
                </a:solidFill>
                <a:latin typeface="Prompt"/>
                <a:ea typeface="Prompt"/>
                <a:cs typeface="Prompt"/>
                <a:sym typeface="Prompt"/>
              </a:rPr>
              <a:t>           </a:t>
            </a:r>
            <a:r>
              <a:rPr b="1"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@david-perez-r</a:t>
            </a:r>
            <a:endParaRPr b="1" sz="3000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pic>
        <p:nvPicPr>
          <p:cNvPr id="186" name="Google Shape;186;g3a1c36684d3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325" y="8352927"/>
            <a:ext cx="591652" cy="59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1c36684d3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675" y="8316900"/>
            <a:ext cx="682825" cy="6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a1c36684d3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5206" y="8352922"/>
            <a:ext cx="591650" cy="5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a1c36684d3_0_25" title="Comunidad TI (2) 2.PNG"/>
          <p:cNvPicPr preferRelativeResize="0"/>
          <p:nvPr/>
        </p:nvPicPr>
        <p:blipFill rotWithShape="1">
          <a:blip r:embed="rId7">
            <a:alphaModFix/>
          </a:blip>
          <a:srcRect b="20986" l="0" r="0" t="10810"/>
          <a:stretch/>
        </p:blipFill>
        <p:spPr>
          <a:xfrm>
            <a:off x="2152263" y="359150"/>
            <a:ext cx="3365374" cy="22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a1c36684d3_0_25" title="comunidadti.c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23725" y="2954025"/>
            <a:ext cx="4222450" cy="42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g3a1c36684d3_0_51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196" name="Google Shape;196;g3a1c36684d3_0_51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197" name="Google Shape;197;g3a1c36684d3_0_51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a1c36684d3_0_51"/>
          <p:cNvSpPr txBox="1"/>
          <p:nvPr/>
        </p:nvSpPr>
        <p:spPr>
          <a:xfrm>
            <a:off x="1028700" y="857250"/>
            <a:ext cx="1623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¿Qué es Random Forest?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g3a1c36684d3_0_51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Random Forest (Bosque Aleatorio) es un algoritmo de Machine Learning que combina múltiples árboles de decisión para hacer predicciones más precisas y robustas.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Concepto simple: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Imagina que tienes 500 expertos (árboles) que votan: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Cada experto toma una decisión basada en diferentes aspectos del problema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La decisión final es el voto mayoritario de todos los expertos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Esto reduce errores y mejora la precisión</a:t>
            </a:r>
            <a:endParaRPr b="1" sz="3999">
              <a:solidFill>
                <a:srgbClr val="000062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g3a1c36684d3_0_59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205" name="Google Shape;205;g3a1c36684d3_0_59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206" name="Google Shape;206;g3a1c36684d3_0_59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g3a1c36684d3_0_59"/>
          <p:cNvSpPr txBox="1"/>
          <p:nvPr/>
        </p:nvSpPr>
        <p:spPr>
          <a:xfrm>
            <a:off x="1028700" y="857250"/>
            <a:ext cx="1623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Cómo funciona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g3a1c36684d3_0_59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┌─────────────────────────────────────┐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 Random Forest (500 árboles)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├─────────────────────────────────────┤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                         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Árbol 1:  test_payment.py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Árbol 2:  test_payment.py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Árbol 3:  test_login.py  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Árbol 4:  test_payment.py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...                      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Árbol 500: test_payment.py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                                 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6"/>
              <a:buFont typeface="Arial"/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│  Votación: test_payment.py (62.7%)  │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└─────────────────────────────────────┘</a:t>
            </a:r>
            <a:endParaRPr b="1"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g3a1c36684d3_0_76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214" name="Google Shape;214;g3a1c36684d3_0_76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215" name="Google Shape;215;g3a1c36684d3_0_76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g3a1c36684d3_0_76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425400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rabi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Problema de clasificación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lpha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Objetivo: predecir qué test fallará dado un conjunto de archivos modificados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lpha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Clases: </a:t>
            </a:r>
            <a:r>
              <a:rPr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test_login.py, test_payment.py, test_ui.py, none</a:t>
            </a:r>
            <a:endParaRPr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25400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lpha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Random Forest es adecuado para clasificación multiclase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rabi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Features mixtas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lpha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Features del modelo: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2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roman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Archivos modificados (one-hot: 0/1)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2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roman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Longitud del mensaje de commit (numérico)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2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roman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Día de la semana (numérico)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25400" lvl="1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AutoNum type="alphaLcPeriod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Random Forest maneja bien features categóricas y numéricas sin normalización compleja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17" name="Google Shape;217;g3a1c36684d3_0_76"/>
          <p:cNvSpPr txBox="1"/>
          <p:nvPr/>
        </p:nvSpPr>
        <p:spPr>
          <a:xfrm>
            <a:off x="1028700" y="857250"/>
            <a:ext cx="162306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¿Por qué Random Forest en este proyecto?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g3a1c36684d3_0_92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223" name="Google Shape;223;g3a1c36684d3_0_92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224" name="Google Shape;224;g3a1c36684d3_0_92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a1c36684d3_0_92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3. Interpretabilidad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Proporciona probabilidades por clase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Permite entender qué features importan más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Útil para depurar y explicar decisiones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4. Robustez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Maneja bien ruido y datos sintéticos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No requiere mucho preprocesamiento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Funciona bien con datasets pequeños/medianos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26" name="Google Shape;226;g3a1c36684d3_0_92"/>
          <p:cNvSpPr txBox="1"/>
          <p:nvPr/>
        </p:nvSpPr>
        <p:spPr>
          <a:xfrm>
            <a:off x="1028700" y="857250"/>
            <a:ext cx="162306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¿Por qué Random Forest en este proyecto?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1c36684d3_0_101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5. Probabilidad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457200" lvl="0" marL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# El modelo devuelve probabilidades:</a:t>
            </a:r>
            <a:endParaRPr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test_payment.py: 62.7%</a:t>
            </a:r>
            <a:endParaRPr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test_login.py:   30.2%</a:t>
            </a:r>
            <a:endParaRPr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test_ui.py:       0.0%</a:t>
            </a:r>
            <a:endParaRPr sz="3999">
              <a:solidFill>
                <a:srgbClr val="00006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000062"/>
                </a:solidFill>
                <a:latin typeface="Courier New"/>
                <a:ea typeface="Courier New"/>
                <a:cs typeface="Courier New"/>
                <a:sym typeface="Courier New"/>
              </a:rPr>
              <a:t>none:             7.1%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Permite filtrar por umbral (PROB_THRESHOLD)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82536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ts val="3999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Útil para seleccionar tests con mayor riesgo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grpSp>
        <p:nvGrpSpPr>
          <p:cNvPr id="232" name="Google Shape;232;g3a1c36684d3_0_101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233" name="Google Shape;233;g3a1c36684d3_0_101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234" name="Google Shape;234;g3a1c36684d3_0_101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g3a1c36684d3_0_101"/>
          <p:cNvSpPr txBox="1"/>
          <p:nvPr/>
        </p:nvSpPr>
        <p:spPr>
          <a:xfrm>
            <a:off x="1028700" y="857250"/>
            <a:ext cx="162306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¿Por qué Random Forest en este proyecto?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1c36684d3_0_111"/>
          <p:cNvSpPr txBox="1"/>
          <p:nvPr/>
        </p:nvSpPr>
        <p:spPr>
          <a:xfrm>
            <a:off x="1074450" y="2684325"/>
            <a:ext cx="16139100" cy="6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44444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Random Forest es una buena opción para este proyecto porque: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Es un problema de clasificación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Random Forest es ideal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Necesitamos probabilidades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Random Forest las proporciona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Queremos rapidez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Random Forest es rápido de entrenar y predecir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Queremos robustez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Random Forest maneja bien el ruido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1" marL="13716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b="1" lang="en-US" sz="3999">
                <a:solidFill>
                  <a:srgbClr val="000062"/>
                </a:solidFill>
                <a:latin typeface="Prompt"/>
                <a:ea typeface="Prompt"/>
                <a:cs typeface="Prompt"/>
                <a:sym typeface="Prompt"/>
              </a:rPr>
              <a:t>Queremos interpretabilidad</a:t>
            </a: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 → Random Forest es más interpretable que deep learning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  <a:p>
            <a:pPr indent="-44444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62"/>
              </a:buClr>
              <a:buSzPct val="100000"/>
              <a:buFont typeface="Prompt Light"/>
              <a:buChar char="-"/>
            </a:pPr>
            <a:r>
              <a:rPr lang="en-US" sz="3999">
                <a:solidFill>
                  <a:srgbClr val="000062"/>
                </a:solidFill>
                <a:latin typeface="Prompt Light"/>
                <a:ea typeface="Prompt Light"/>
                <a:cs typeface="Prompt Light"/>
                <a:sym typeface="Prompt Light"/>
              </a:rPr>
              <a:t>Es el equilibrio adecuado entre precisión, velocidad y simplicidad para un sistema de CI/CD que necesita decisiones rápidas y confiables.</a:t>
            </a:r>
            <a:endParaRPr sz="3999">
              <a:solidFill>
                <a:srgbClr val="000062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grpSp>
        <p:nvGrpSpPr>
          <p:cNvPr id="241" name="Google Shape;241;g3a1c36684d3_0_111"/>
          <p:cNvGrpSpPr/>
          <p:nvPr/>
        </p:nvGrpSpPr>
        <p:grpSpPr>
          <a:xfrm>
            <a:off x="0" y="10062677"/>
            <a:ext cx="18288118" cy="224326"/>
            <a:chOff x="0" y="-47625"/>
            <a:chExt cx="4816592" cy="931200"/>
          </a:xfrm>
        </p:grpSpPr>
        <p:sp>
          <p:nvSpPr>
            <p:cNvPr id="242" name="Google Shape;242;g3a1c36684d3_0_111"/>
            <p:cNvSpPr/>
            <p:nvPr/>
          </p:nvSpPr>
          <p:spPr>
            <a:xfrm>
              <a:off x="0" y="0"/>
              <a:ext cx="4816592" cy="883475"/>
            </a:xfrm>
            <a:custGeom>
              <a:rect b="b" l="l" r="r" t="t"/>
              <a:pathLst>
                <a:path extrusionOk="0" h="88347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75"/>
                  </a:lnTo>
                  <a:lnTo>
                    <a:pt x="0" y="883475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</p:sp>
        <p:sp>
          <p:nvSpPr>
            <p:cNvPr id="243" name="Google Shape;243;g3a1c36684d3_0_111"/>
            <p:cNvSpPr txBox="1"/>
            <p:nvPr/>
          </p:nvSpPr>
          <p:spPr>
            <a:xfrm>
              <a:off x="0" y="-47625"/>
              <a:ext cx="48165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g3a1c36684d3_0_111"/>
          <p:cNvSpPr txBox="1"/>
          <p:nvPr/>
        </p:nvSpPr>
        <p:spPr>
          <a:xfrm>
            <a:off x="1028700" y="857250"/>
            <a:ext cx="162306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000062"/>
                </a:solidFill>
                <a:latin typeface="Nunito"/>
                <a:ea typeface="Nunito"/>
                <a:cs typeface="Nunito"/>
                <a:sym typeface="Nunito"/>
              </a:rPr>
              <a:t>Resumen</a:t>
            </a:r>
            <a:endParaRPr b="1" sz="9200">
              <a:solidFill>
                <a:srgbClr val="00006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